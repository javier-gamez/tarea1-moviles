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89320" y="4160520"/>
            <a:ext cx="457200" cy="457200"/>
          </a:xfrm>
          <a:prstGeom prst="ellipse">
            <a:avLst/>
          </a:prstGeom>
          <a:solidFill>
            <a:srgbClr val="141B47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9048" y="4270248"/>
            <a:ext cx="237744" cy="237744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720840" y="4160520"/>
            <a:ext cx="457200" cy="457200"/>
          </a:xfrm>
          <a:prstGeom prst="ellipse">
            <a:avLst/>
          </a:prstGeom>
          <a:solidFill>
            <a:srgbClr val="141B47"/>
          </a:solidFill>
          <a:ln/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0568" y="4270248"/>
            <a:ext cx="237744" cy="237744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7452360" y="4160520"/>
            <a:ext cx="457200" cy="457200"/>
          </a:xfrm>
          <a:prstGeom prst="ellipse">
            <a:avLst/>
          </a:prstGeom>
          <a:solidFill>
            <a:srgbClr val="141B47"/>
          </a:solidFill>
          <a:ln/>
        </p:spPr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62088" y="4270248"/>
            <a:ext cx="237744" cy="237744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6446520" y="4389120"/>
            <a:ext cx="274320" cy="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</p:sp>
      <p:sp>
        <p:nvSpPr>
          <p:cNvPr id="9" name="Shape 4"/>
          <p:cNvSpPr/>
          <p:nvPr/>
        </p:nvSpPr>
        <p:spPr>
          <a:xfrm>
            <a:off x="7178040" y="4389120"/>
            <a:ext cx="274320" cy="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</p:sp>
      <p:sp>
        <p:nvSpPr>
          <p:cNvPr id="10" name="Text 5"/>
          <p:cNvSpPr txBox="1"/>
          <p:nvPr/>
        </p:nvSpPr>
        <p:spPr>
          <a:xfrm>
            <a:off x="640080" y="1554480"/>
            <a:ext cx="7863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MCP y el servidor de sistema de archivos</a:t>
            </a:r>
            <a:endParaRPr lang="en-US" sz="3800" dirty="0"/>
          </a:p>
        </p:txBody>
      </p:sp>
      <p:sp>
        <p:nvSpPr>
          <p:cNvPr id="11" name="Text 6"/>
          <p:cNvSpPr txBox="1"/>
          <p:nvPr/>
        </p:nvSpPr>
        <p:spPr>
          <a:xfrm>
            <a:off x="640080" y="260604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copiar y pegar texto a que un modelo opere archivos locales</a:t>
            </a:r>
            <a:endParaRPr lang="en-US" sz="1800" dirty="0"/>
          </a:p>
        </p:txBody>
      </p:sp>
      <p:sp>
        <p:nvSpPr>
          <p:cNvPr id="12" name="Text 7"/>
          <p:cNvSpPr txBox="1"/>
          <p:nvPr/>
        </p:nvSpPr>
        <p:spPr>
          <a:xfrm>
            <a:off x="640080" y="411480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[Nombre completo]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Boleta: [XXXXXXXX]   ·   Grupo: [XXXX]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de septiembre de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LLM no puede tocar tus archivos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1737360" cy="822960"/>
          </a:xfrm>
          <a:prstGeom prst="roundRect">
            <a:avLst>
              <a:gd name="adj" fmla="val 8889"/>
            </a:avLst>
          </a:prstGeom>
          <a:solidFill>
            <a:srgbClr val="EEF3FF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55448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</a:rPr>
              <a:t>Usuario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703320" y="1554480"/>
            <a:ext cx="2468880" cy="822960"/>
          </a:xfrm>
          <a:prstGeom prst="roundRect">
            <a:avLst>
              <a:gd name="adj" fmla="val 8889"/>
            </a:avLst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3703320" y="155448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Modelo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(servidor remoto)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766560" y="1554480"/>
            <a:ext cx="1737360" cy="822960"/>
          </a:xfrm>
          <a:prstGeom prst="roundRect">
            <a:avLst>
              <a:gd name="adj" fmla="val 8889"/>
            </a:avLst>
          </a:prstGeom>
          <a:solidFill>
            <a:srgbClr val="EEF3F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766560" y="155448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</a:rPr>
              <a:t>Usuario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2395728" y="1965960"/>
            <a:ext cx="1280160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10" name="Text 8"/>
          <p:cNvSpPr txBox="1"/>
          <p:nvPr/>
        </p:nvSpPr>
        <p:spPr>
          <a:xfrm>
            <a:off x="2395728" y="126187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7280"/>
                </a:solidFill>
              </a:rPr>
              <a:t>texto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199632" y="1965960"/>
            <a:ext cx="548640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12" name="Text 10"/>
          <p:cNvSpPr txBox="1"/>
          <p:nvPr/>
        </p:nvSpPr>
        <p:spPr>
          <a:xfrm>
            <a:off x="6199632" y="126187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7280"/>
                </a:solidFill>
              </a:rPr>
              <a:t>texto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260604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7280"/>
                </a:solidFill>
              </a:rPr>
              <a:t>Nunca hay una llamada al sistema operativo: solo texto de ida y vuelta.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3246120"/>
            <a:ext cx="3794760" cy="1417320"/>
          </a:xfrm>
          <a:prstGeom prst="roundRect">
            <a:avLst>
              <a:gd name="adj" fmla="val 6452"/>
            </a:avLst>
          </a:prstGeom>
          <a:solidFill>
            <a:srgbClr val="EEF3FF"/>
          </a:solidFill>
          <a:ln/>
        </p:spPr>
      </p:sp>
      <p:sp>
        <p:nvSpPr>
          <p:cNvPr id="15" name="Shape 13"/>
          <p:cNvSpPr/>
          <p:nvPr/>
        </p:nvSpPr>
        <p:spPr>
          <a:xfrm>
            <a:off x="777240" y="3502152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7941" y="3622853"/>
            <a:ext cx="261518" cy="261518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1417320" y="34747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</a:rPr>
              <a:t>Arquitectura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777240" y="4023360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3D"/>
                </a:solidFill>
              </a:rPr>
              <a:t>El modelo corre en un servidor remoto: no hay canal de red hacia tu disco.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4800600" y="3246120"/>
            <a:ext cx="3794760" cy="1417320"/>
          </a:xfrm>
          <a:prstGeom prst="roundRect">
            <a:avLst>
              <a:gd name="adj" fmla="val 6452"/>
            </a:avLst>
          </a:prstGeom>
          <a:solidFill>
            <a:srgbClr val="EEF3FF"/>
          </a:solidFill>
          <a:ln/>
        </p:spPr>
      </p:sp>
      <p:sp>
        <p:nvSpPr>
          <p:cNvPr id="20" name="Shape 17"/>
          <p:cNvSpPr/>
          <p:nvPr/>
        </p:nvSpPr>
        <p:spPr>
          <a:xfrm>
            <a:off x="5029200" y="3502152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9901" y="3622853"/>
            <a:ext cx="261518" cy="261518"/>
          </a:xfrm>
          <a:prstGeom prst="rect">
            <a:avLst/>
          </a:prstGeom>
        </p:spPr>
      </p:pic>
      <p:sp>
        <p:nvSpPr>
          <p:cNvPr id="22" name="Text 18"/>
          <p:cNvSpPr txBox="1"/>
          <p:nvPr/>
        </p:nvSpPr>
        <p:spPr>
          <a:xfrm>
            <a:off x="5669280" y="34747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</a:rPr>
              <a:t>Seguridad</a:t>
            </a:r>
            <a:endParaRPr lang="en-US" sz="1500" dirty="0"/>
          </a:p>
        </p:txBody>
      </p:sp>
      <p:sp>
        <p:nvSpPr>
          <p:cNvPr id="23" name="Text 19"/>
          <p:cNvSpPr txBox="1"/>
          <p:nvPr/>
        </p:nvSpPr>
        <p:spPr>
          <a:xfrm>
            <a:off x="5029200" y="4023360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3D"/>
                </a:solidFill>
              </a:rPr>
              <a:t>Aislamiento, consentimiento del usuario y riesgo de inyección de instrucciones.</a:t>
            </a:r>
            <a:endParaRPr lang="en-US" sz="1200" dirty="0"/>
          </a:p>
        </p:txBody>
      </p:sp>
      <p:sp>
        <p:nvSpPr>
          <p:cNvPr id="24" name="Text 20"/>
          <p:cNvSpPr txBox="1"/>
          <p:nvPr/>
        </p:nvSpPr>
        <p:spPr>
          <a:xfrm>
            <a:off x="8366760" y="4864608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2 / 10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MCP frente a una API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3794760" cy="3246120"/>
          </a:xfrm>
          <a:prstGeom prst="roundRect">
            <a:avLst>
              <a:gd name="adj" fmla="val 2817"/>
            </a:avLst>
          </a:prstGeom>
          <a:solidFill>
            <a:srgbClr val="EEF3FF"/>
          </a:solidFill>
          <a:ln/>
        </p:spPr>
      </p:sp>
      <p:sp>
        <p:nvSpPr>
          <p:cNvPr id="4" name="Shape 2"/>
          <p:cNvSpPr/>
          <p:nvPr/>
        </p:nvSpPr>
        <p:spPr>
          <a:xfrm>
            <a:off x="868680" y="1691640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1326" y="1834286"/>
            <a:ext cx="309067" cy="309067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45920" y="175564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</a:rPr>
              <a:t>API tradicional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868680" y="2468880"/>
            <a:ext cx="31546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B2B3D"/>
                </a:solidFill>
              </a:rPr>
              <a:t>La persona desarrolladora decide, de antemano, qué endpoint llamar.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2B2B3D"/>
                </a:solidFill>
              </a:rPr>
              <a:t>Esa decisión queda fija en el código, escrita antes de que el programa corra.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4800600" y="1371600"/>
            <a:ext cx="3794760" cy="3246120"/>
          </a:xfrm>
          <a:prstGeom prst="roundRect">
            <a:avLst>
              <a:gd name="adj" fmla="val 2817"/>
            </a:avLst>
          </a:prstGeom>
          <a:solidFill>
            <a:srgbClr val="1E2761"/>
          </a:solidFill>
          <a:ln/>
        </p:spPr>
      </p:sp>
      <p:sp>
        <p:nvSpPr>
          <p:cNvPr id="9" name="Shape 6"/>
          <p:cNvSpPr/>
          <p:nvPr/>
        </p:nvSpPr>
        <p:spPr>
          <a:xfrm>
            <a:off x="5120640" y="1691640"/>
            <a:ext cx="594360" cy="594360"/>
          </a:xfrm>
          <a:prstGeom prst="ellipse">
            <a:avLst/>
          </a:prstGeom>
          <a:solidFill>
            <a:srgbClr val="141B47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63286" y="1834286"/>
            <a:ext cx="309067" cy="309067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897880" y="175564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MCP</a:t>
            </a:r>
            <a:endParaRPr lang="en-US" sz="1700" dirty="0"/>
          </a:p>
        </p:txBody>
      </p:sp>
      <p:sp>
        <p:nvSpPr>
          <p:cNvPr id="12" name="Text 8"/>
          <p:cNvSpPr txBox="1"/>
          <p:nvPr/>
        </p:nvSpPr>
        <p:spPr>
          <a:xfrm>
            <a:off x="5120640" y="2468880"/>
            <a:ext cx="31546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CADCFC"/>
                </a:solidFill>
              </a:rPr>
              <a:t>El servidor publica un catálogo de herramientas, en tiempo real.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CADCFC"/>
                </a:solidFill>
              </a:rPr>
              <a:t>El modelo decide cuál invocar, según lo que el usuario pidió en ese momento.</a:t>
            </a:r>
            <a:endParaRPr lang="en-US" sz="1350" dirty="0"/>
          </a:p>
        </p:txBody>
      </p:sp>
      <p:sp>
        <p:nvSpPr>
          <p:cNvPr id="13" name="Text 9"/>
          <p:cNvSpPr txBox="1"/>
          <p:nvPr/>
        </p:nvSpPr>
        <p:spPr>
          <a:xfrm>
            <a:off x="8366760" y="4864608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3 / 10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 cuatro criterios: qué cambia</a:t>
            </a:r>
            <a:endParaRPr lang="en-US" sz="3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8046720" cy="3017520"/>
        </p:xfrm>
        <a:graphic>
          <a:graphicData uri="http://schemas.openxmlformats.org/drawingml/2006/table">
            <a:tbl>
              <a:tblPr/>
              <a:tblGrid>
                <a:gridCol w="2651760"/>
                <a:gridCol w="2697480"/>
                <a:gridCol w="2697480"/>
              </a:tblGrid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Criterio</a:t>
                      </a:r>
                      <a:endParaRPr lang="en-US" sz="1300" dirty="0"/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API tradicional</a:t>
                      </a:r>
                      <a:endParaRPr lang="en-US" sz="1300" dirty="0"/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MCP</a:t>
                      </a:r>
                      <a:endParaRPr lang="en-US" sz="1300" dirty="0"/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D"/>
                          </a:solidFill>
                        </a:rPr>
                        <a:t>Quién decide qué se invoca</a:t>
                      </a:r>
                      <a:endParaRPr lang="en-US" sz="1250" dirty="0"/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D"/>
                          </a:solidFill>
                        </a:rPr>
                        <a:t>El desarrollador, de antemano</a:t>
                      </a:r>
                      <a:endParaRPr lang="en-US" sz="1250" dirty="0"/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D"/>
                          </a:solidFill>
                        </a:rPr>
                        <a:t>El modelo, en tiempo de ejecución</a:t>
                      </a:r>
                      <a:endParaRPr lang="en-US" sz="1250" dirty="0"/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D"/>
                          </a:solidFill>
                        </a:rPr>
                        <a:t>Descubrimiento de capacidades</a:t>
                      </a:r>
                      <a:endParaRPr lang="en-US" sz="1250" dirty="0"/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D"/>
                          </a:solidFill>
                        </a:rPr>
                        <a:t>Documentación externa (offline)</a:t>
                      </a:r>
                      <a:endParaRPr lang="en-US" sz="1250" dirty="0"/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D"/>
                          </a:solidFill>
                        </a:rPr>
                        <a:t>"tools/list" en tiempo real</a:t>
                      </a:r>
                      <a:endParaRPr lang="en-US" sz="1250" dirty="0"/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D"/>
                          </a:solidFill>
                        </a:rPr>
                        <a:t>Acoplamiento cliente–servicio</a:t>
                      </a:r>
                      <a:endParaRPr lang="en-US" sz="1250" dirty="0"/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D"/>
                          </a:solidFill>
                        </a:rPr>
                        <a:t>Alto (contrato fijo en el código)</a:t>
                      </a:r>
                      <a:endParaRPr lang="en-US" sz="1250" dirty="0"/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D"/>
                          </a:solidFill>
                        </a:rPr>
                        <a:t>Bajo (cliente genérico)</a:t>
                      </a:r>
                      <a:endParaRPr lang="en-US" sz="1250" dirty="0"/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D"/>
                          </a:solidFill>
                        </a:rPr>
                        <a:t>Formato de mensajes</a:t>
                      </a:r>
                      <a:endParaRPr lang="en-US" sz="1250" dirty="0"/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D"/>
                          </a:solidFill>
                        </a:rPr>
                        <a:t>Variable (REST, GraphQL, gRPC...)</a:t>
                      </a:r>
                      <a:endParaRPr lang="en-US" sz="1250" dirty="0"/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D"/>
                          </a:solidFill>
                        </a:rPr>
                        <a:t>Estandarizado: JSON-RPC 2.0</a:t>
                      </a:r>
                      <a:endParaRPr lang="en-US" sz="1250" dirty="0"/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8366760" y="4864608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4 / 10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Host, cliente y servidor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4663440" cy="1920240"/>
          </a:xfrm>
          <a:prstGeom prst="roundRect">
            <a:avLst>
              <a:gd name="adj" fmla="val 4762"/>
            </a:avLst>
          </a:prstGeom>
          <a:solidFill>
            <a:srgbClr val="EEF3FF"/>
          </a:solidFill>
          <a:ln w="19050">
            <a:solidFill>
              <a:srgbClr val="CADCF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50876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Host (Claude Code)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005840" y="214884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9459" y="2302459"/>
            <a:ext cx="332842" cy="33284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960120" y="283464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>Cliente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212080" y="2468880"/>
            <a:ext cx="1371600" cy="0"/>
          </a:xfrm>
          <a:prstGeom prst="line">
            <a:avLst/>
          </a:prstGeom>
          <a:noFill/>
          <a:ln w="25400">
            <a:solidFill>
              <a:srgbClr val="6B7280"/>
            </a:solidFill>
            <a:prstDash val="dash"/>
            <a:tailEnd type="triangle"/>
          </a:ln>
        </p:spPr>
      </p:sp>
      <p:sp>
        <p:nvSpPr>
          <p:cNvPr id="9" name="Text 6"/>
          <p:cNvSpPr txBox="1"/>
          <p:nvPr/>
        </p:nvSpPr>
        <p:spPr>
          <a:xfrm>
            <a:off x="5257800" y="21031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280"/>
                </a:solidFill>
              </a:rPr>
              <a:t>stdio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583680" y="1691640"/>
            <a:ext cx="2011680" cy="1554480"/>
          </a:xfrm>
          <a:prstGeom prst="roundRect">
            <a:avLst>
              <a:gd name="adj" fmla="val 5882"/>
            </a:avLst>
          </a:prstGeom>
          <a:solidFill>
            <a:srgbClr val="1E2761"/>
          </a:solidFill>
          <a:ln/>
        </p:spPr>
      </p:sp>
      <p:sp>
        <p:nvSpPr>
          <p:cNvPr id="11" name="Shape 8"/>
          <p:cNvSpPr/>
          <p:nvPr/>
        </p:nvSpPr>
        <p:spPr>
          <a:xfrm>
            <a:off x="7178040" y="1874520"/>
            <a:ext cx="594360" cy="594360"/>
          </a:xfrm>
          <a:prstGeom prst="ellipse">
            <a:avLst/>
          </a:prstGeom>
          <a:solidFill>
            <a:srgbClr val="141B47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20686" y="2017166"/>
            <a:ext cx="309067" cy="309067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6583680" y="251460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Servidor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filesystem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548640" y="3611880"/>
            <a:ext cx="3794760" cy="1051560"/>
          </a:xfrm>
          <a:prstGeom prst="roundRect">
            <a:avLst>
              <a:gd name="adj" fmla="val 6957"/>
            </a:avLst>
          </a:prstGeom>
          <a:solidFill>
            <a:srgbClr val="EEF3FF"/>
          </a:solidFill>
          <a:ln/>
        </p:spPr>
      </p:sp>
      <p:sp>
        <p:nvSpPr>
          <p:cNvPr id="15" name="Text 11"/>
          <p:cNvSpPr txBox="1"/>
          <p:nvPr/>
        </p:nvSpPr>
        <p:spPr>
          <a:xfrm>
            <a:off x="777240" y="373075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</a:rPr>
              <a:t>El servidor expone:</a:t>
            </a:r>
            <a:endParaRPr lang="en-US" sz="1250" dirty="0"/>
          </a:p>
        </p:txBody>
      </p:sp>
      <p:sp>
        <p:nvSpPr>
          <p:cNvPr id="16" name="Text 12"/>
          <p:cNvSpPr txBox="1"/>
          <p:nvPr/>
        </p:nvSpPr>
        <p:spPr>
          <a:xfrm>
            <a:off x="777240" y="4041648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3D"/>
                </a:solidFill>
              </a:rPr>
              <a:t>tools · resources · prompts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4617720" y="3611880"/>
            <a:ext cx="3977640" cy="1051560"/>
          </a:xfrm>
          <a:prstGeom prst="roundRect">
            <a:avLst>
              <a:gd name="adj" fmla="val 6957"/>
            </a:avLst>
          </a:prstGeom>
          <a:solidFill>
            <a:srgbClr val="EEF3FF"/>
          </a:solidFill>
          <a:ln/>
        </p:spPr>
      </p:sp>
      <p:sp>
        <p:nvSpPr>
          <p:cNvPr id="18" name="Text 14"/>
          <p:cNvSpPr txBox="1"/>
          <p:nvPr/>
        </p:nvSpPr>
        <p:spPr>
          <a:xfrm>
            <a:off x="4846320" y="373075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</a:rPr>
              <a:t>Transportes:</a:t>
            </a:r>
            <a:endParaRPr lang="en-US" sz="1250" dirty="0"/>
          </a:p>
        </p:txBody>
      </p:sp>
      <p:sp>
        <p:nvSpPr>
          <p:cNvPr id="19" name="Text 15"/>
          <p:cNvSpPr txBox="1"/>
          <p:nvPr/>
        </p:nvSpPr>
        <p:spPr>
          <a:xfrm>
            <a:off x="4846320" y="4041648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3D"/>
                </a:solidFill>
              </a:rPr>
              <a:t>stdio (local) · Streamable HTTP (remoto)</a:t>
            </a:r>
            <a:endParaRPr lang="en-US" sz="1300" dirty="0"/>
          </a:p>
        </p:txBody>
      </p:sp>
      <p:sp>
        <p:nvSpPr>
          <p:cNvPr id="20" name="Text 16"/>
          <p:cNvSpPr txBox="1"/>
          <p:nvPr/>
        </p:nvSpPr>
        <p:spPr>
          <a:xfrm>
            <a:off x="8366760" y="4864608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5 / 10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"FS" no es el protocolo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</a:rPr>
              <a:t>Es uno de varios servidores de referencia (junto con Git, SQLite, memoria...)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822960" y="1691640"/>
            <a:ext cx="1371600" cy="13716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2144" y="2020824"/>
            <a:ext cx="713232" cy="71323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2743200" y="1600200"/>
            <a:ext cx="777240" cy="7772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9738" y="1786738"/>
            <a:ext cx="404165" cy="404165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2514600" y="2450592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</a:rPr>
              <a:t>Listar</a:t>
            </a:r>
            <a:endParaRPr lang="en-US" sz="1150" dirty="0"/>
          </a:p>
        </p:txBody>
      </p:sp>
      <p:sp>
        <p:nvSpPr>
          <p:cNvPr id="9" name="Shape 5"/>
          <p:cNvSpPr/>
          <p:nvPr/>
        </p:nvSpPr>
        <p:spPr>
          <a:xfrm>
            <a:off x="4160520" y="1600200"/>
            <a:ext cx="777240" cy="7772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7058" y="1786738"/>
            <a:ext cx="404165" cy="404165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3931920" y="2450592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</a:rPr>
              <a:t>Leer</a:t>
            </a:r>
            <a:endParaRPr lang="en-US" sz="1150" dirty="0"/>
          </a:p>
        </p:txBody>
      </p:sp>
      <p:sp>
        <p:nvSpPr>
          <p:cNvPr id="12" name="Shape 7"/>
          <p:cNvSpPr/>
          <p:nvPr/>
        </p:nvSpPr>
        <p:spPr>
          <a:xfrm>
            <a:off x="5577840" y="1600200"/>
            <a:ext cx="777240" cy="7772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4378" y="1786738"/>
            <a:ext cx="404165" cy="404165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5349240" y="2450592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</a:rPr>
              <a:t>Escribir / Editar</a:t>
            </a:r>
            <a:endParaRPr lang="en-US" sz="1150" dirty="0"/>
          </a:p>
        </p:txBody>
      </p:sp>
      <p:sp>
        <p:nvSpPr>
          <p:cNvPr id="15" name="Shape 9"/>
          <p:cNvSpPr/>
          <p:nvPr/>
        </p:nvSpPr>
        <p:spPr>
          <a:xfrm>
            <a:off x="6995160" y="1600200"/>
            <a:ext cx="777240" cy="7772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81698" y="1786738"/>
            <a:ext cx="404165" cy="404165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6766560" y="2450592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</a:rPr>
              <a:t>Buscar</a:t>
            </a:r>
            <a:endParaRPr lang="en-US" sz="1150" dirty="0"/>
          </a:p>
        </p:txBody>
      </p:sp>
      <p:sp>
        <p:nvSpPr>
          <p:cNvPr id="18" name="Shape 11"/>
          <p:cNvSpPr/>
          <p:nvPr/>
        </p:nvSpPr>
        <p:spPr>
          <a:xfrm>
            <a:off x="548640" y="3246120"/>
            <a:ext cx="8046720" cy="1371600"/>
          </a:xfrm>
          <a:prstGeom prst="roundRect">
            <a:avLst>
              <a:gd name="adj" fmla="val 6667"/>
            </a:avLst>
          </a:prstGeom>
          <a:solidFill>
            <a:srgbClr val="EEF3FF"/>
          </a:solidFill>
          <a:ln/>
        </p:spPr>
      </p:sp>
      <p:sp>
        <p:nvSpPr>
          <p:cNvPr id="19" name="Shape 12"/>
          <p:cNvSpPr/>
          <p:nvPr/>
        </p:nvSpPr>
        <p:spPr>
          <a:xfrm>
            <a:off x="822960" y="352044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4634" y="3652114"/>
            <a:ext cx="285293" cy="285293"/>
          </a:xfrm>
          <a:prstGeom prst="rect">
            <a:avLst/>
          </a:prstGeom>
        </p:spPr>
      </p:pic>
      <p:sp>
        <p:nvSpPr>
          <p:cNvPr id="21" name="Text 13"/>
          <p:cNvSpPr txBox="1"/>
          <p:nvPr/>
        </p:nvSpPr>
        <p:spPr>
          <a:xfrm>
            <a:off x="1554480" y="3429000"/>
            <a:ext cx="6766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2B2B3D"/>
                </a:solidFill>
              </a:rPr>
              <a:t>El alcance se delimita por "directorios permitidos": ninguna ruta fuera de esa lista se ejecuta, aunque el modelo la pida.</a:t>
            </a:r>
            <a:endParaRPr lang="en-US" sz="1400" dirty="0"/>
          </a:p>
        </p:txBody>
      </p:sp>
      <p:sp>
        <p:nvSpPr>
          <p:cNvPr id="22" name="Text 14"/>
          <p:cNvSpPr txBox="1"/>
          <p:nvPr/>
        </p:nvSpPr>
        <p:spPr>
          <a:xfrm>
            <a:off x="8366760" y="4864608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6 / 10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023360" y="1051560"/>
            <a:ext cx="1097280" cy="1097280"/>
          </a:xfrm>
          <a:prstGeom prst="ellipse">
            <a:avLst/>
          </a:prstGeom>
          <a:solidFill>
            <a:srgbClr val="141B47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86707" y="1314907"/>
            <a:ext cx="570586" cy="57058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40080" y="233172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Demostración en vivo</a:t>
            </a:r>
            <a:endParaRPr lang="en-US" sz="3400" dirty="0"/>
          </a:p>
        </p:txBody>
      </p:sp>
      <p:sp>
        <p:nvSpPr>
          <p:cNvPr id="5" name="Text 2"/>
          <p:cNvSpPr txBox="1"/>
          <p:nvPr/>
        </p:nvSpPr>
        <p:spPr>
          <a:xfrm>
            <a:off x="1554480" y="324612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CADCFC"/>
                </a:solidFill>
              </a:rPr>
              <a:t>Operaciones reales sobre workspace/ (listar, leer, escribir, buscar)</a:t>
            </a:r>
            <a:endParaRPr lang="en-US" sz="16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CADCFC"/>
                </a:solidFill>
              </a:rPr>
              <a:t>Prueba del límite de seguridad, en vivo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8366760" y="4864608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</a:rPr>
              <a:t>7 / 10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configurado vs. lo real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3794760" cy="1143000"/>
          </a:xfrm>
          <a:prstGeom prst="roundRect">
            <a:avLst>
              <a:gd name="adj" fmla="val 8000"/>
            </a:avLst>
          </a:prstGeom>
          <a:solidFill>
            <a:srgbClr val="EEF3FF"/>
          </a:solidFill>
          <a:ln/>
        </p:spPr>
      </p:sp>
      <p:sp>
        <p:nvSpPr>
          <p:cNvPr id="4" name="Shape 2"/>
          <p:cNvSpPr/>
          <p:nvPr/>
        </p:nvSpPr>
        <p:spPr>
          <a:xfrm>
            <a:off x="777240" y="150876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8914" y="1640434"/>
            <a:ext cx="285293" cy="285293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463040" y="143560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B7280"/>
                </a:solidFill>
              </a:rPr>
              <a:t>Configuramos</a:t>
            </a:r>
            <a:endParaRPr lang="en-US" sz="1250" dirty="0"/>
          </a:p>
        </p:txBody>
      </p:sp>
      <p:sp>
        <p:nvSpPr>
          <p:cNvPr id="7" name="Text 4"/>
          <p:cNvSpPr txBox="1"/>
          <p:nvPr/>
        </p:nvSpPr>
        <p:spPr>
          <a:xfrm>
            <a:off x="1463040" y="170992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</a:rPr>
              <a:t>workspace/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4800600" y="1234440"/>
            <a:ext cx="3794760" cy="114300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/>
        </p:spPr>
      </p:sp>
      <p:sp>
        <p:nvSpPr>
          <p:cNvPr id="9" name="Shape 6"/>
          <p:cNvSpPr/>
          <p:nvPr/>
        </p:nvSpPr>
        <p:spPr>
          <a:xfrm>
            <a:off x="5029200" y="1508760"/>
            <a:ext cx="548640" cy="548640"/>
          </a:xfrm>
          <a:prstGeom prst="ellipse">
            <a:avLst/>
          </a:prstGeom>
          <a:solidFill>
            <a:srgbClr val="141B47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0874" y="1640434"/>
            <a:ext cx="285293" cy="285293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715000" y="143560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ADCFC"/>
                </a:solidFill>
              </a:rPr>
              <a:t>Alcance real</a:t>
            </a:r>
            <a:endParaRPr lang="en-US" sz="1250" dirty="0"/>
          </a:p>
        </p:txBody>
      </p:sp>
      <p:sp>
        <p:nvSpPr>
          <p:cNvPr id="12" name="Text 8"/>
          <p:cNvSpPr txBox="1"/>
          <p:nvPr/>
        </p:nvSpPr>
        <p:spPr>
          <a:xfrm>
            <a:off x="5715000" y="1709928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</a:rPr>
              <a:t>Toda la carpeta del proyecto</a:t>
            </a:r>
            <a:endParaRPr lang="en-US" sz="1550" dirty="0"/>
          </a:p>
        </p:txBody>
      </p:sp>
      <p:sp>
        <p:nvSpPr>
          <p:cNvPr id="13" name="Text 9"/>
          <p:cNvSpPr txBox="1"/>
          <p:nvPr/>
        </p:nvSpPr>
        <p:spPr>
          <a:xfrm>
            <a:off x="548640" y="2542032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2B2B3D"/>
                </a:solidFill>
              </a:rPr>
              <a:t>Causa: el protocolo de "roots" del cliente reemplaza por completo el argumento de línea de comandos.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548640" y="3154680"/>
            <a:ext cx="8046720" cy="1508760"/>
          </a:xfrm>
          <a:prstGeom prst="roundRect">
            <a:avLst>
              <a:gd name="adj" fmla="val 4848"/>
            </a:avLst>
          </a:prstGeom>
          <a:solidFill>
            <a:srgbClr val="141B47"/>
          </a:solidFill>
          <a:ln/>
        </p:spPr>
      </p:sp>
      <p:sp>
        <p:nvSpPr>
          <p:cNvPr id="15" name="Shape 11"/>
          <p:cNvSpPr/>
          <p:nvPr/>
        </p:nvSpPr>
        <p:spPr>
          <a:xfrm>
            <a:off x="777240" y="338328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7941" y="3503981"/>
            <a:ext cx="261518" cy="261518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508760" y="333756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F2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Access denied - path outside allowed directories</a:t>
            </a:r>
            <a:endParaRPr lang="en-US" sz="1400" dirty="0"/>
          </a:p>
        </p:txBody>
      </p:sp>
      <p:sp>
        <p:nvSpPr>
          <p:cNvPr id="18" name="Text 13"/>
          <p:cNvSpPr txBox="1"/>
          <p:nvPr/>
        </p:nvSpPr>
        <p:spPr>
          <a:xfrm>
            <a:off x="1508760" y="374904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credenciales-secretas.txt   not in   mcp-filesystem-actividad/</a:t>
            </a:r>
            <a:endParaRPr lang="en-US" sz="1200" dirty="0"/>
          </a:p>
        </p:txBody>
      </p:sp>
      <p:sp>
        <p:nvSpPr>
          <p:cNvPr id="19" name="Text 14"/>
          <p:cNvSpPr txBox="1"/>
          <p:nvPr/>
        </p:nvSpPr>
        <p:spPr>
          <a:xfrm>
            <a:off x="1508760" y="416052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9AA5C9"/>
                </a:solidFill>
              </a:rPr>
              <a:t>El servidor rechaza la ruta antes de comprobar si el archivo existe.</a:t>
            </a:r>
            <a:endParaRPr lang="en-US" sz="1150" dirty="0"/>
          </a:p>
        </p:txBody>
      </p:sp>
      <p:sp>
        <p:nvSpPr>
          <p:cNvPr id="20" name="Text 15"/>
          <p:cNvSpPr txBox="1"/>
          <p:nvPr/>
        </p:nvSpPr>
        <p:spPr>
          <a:xfrm>
            <a:off x="8366760" y="4864608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8 / 10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MCP ya está en las herramientas que usamos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3794760" cy="1508760"/>
          </a:xfrm>
          <a:prstGeom prst="roundRect">
            <a:avLst>
              <a:gd name="adj" fmla="val 6061"/>
            </a:avLst>
          </a:prstGeom>
          <a:solidFill>
            <a:srgbClr val="EEF3FF"/>
          </a:solidFill>
          <a:ln/>
        </p:spPr>
      </p:sp>
      <p:sp>
        <p:nvSpPr>
          <p:cNvPr id="4" name="Shape 2"/>
          <p:cNvSpPr/>
          <p:nvPr/>
        </p:nvSpPr>
        <p:spPr>
          <a:xfrm>
            <a:off x="777240" y="1572768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" y="1682496"/>
            <a:ext cx="237744" cy="23774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77240" y="2121408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</a:rPr>
              <a:t>Claude Code / Claude Desktop</a:t>
            </a:r>
            <a:endParaRPr lang="en-US" sz="135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450592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B3D"/>
                </a:solidFill>
              </a:rPr>
              <a:t>Host MCP usado en este trabajo (Anthropic).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4800600" y="1371600"/>
            <a:ext cx="3794760" cy="1508760"/>
          </a:xfrm>
          <a:prstGeom prst="roundRect">
            <a:avLst>
              <a:gd name="adj" fmla="val 6061"/>
            </a:avLst>
          </a:prstGeom>
          <a:solidFill>
            <a:srgbClr val="EEF3FF"/>
          </a:solidFill>
          <a:ln/>
        </p:spPr>
      </p:sp>
      <p:sp>
        <p:nvSpPr>
          <p:cNvPr id="9" name="Shape 6"/>
          <p:cNvSpPr/>
          <p:nvPr/>
        </p:nvSpPr>
        <p:spPr>
          <a:xfrm>
            <a:off x="5029200" y="1572768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8928" y="1682496"/>
            <a:ext cx="237744" cy="23774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029200" y="2121408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</a:rPr>
              <a:t>VS Code + GitHub Copilot</a:t>
            </a:r>
            <a:endParaRPr lang="en-US" sz="1350" dirty="0"/>
          </a:p>
        </p:txBody>
      </p:sp>
      <p:sp>
        <p:nvSpPr>
          <p:cNvPr id="12" name="Text 8"/>
          <p:cNvSpPr txBox="1"/>
          <p:nvPr/>
        </p:nvSpPr>
        <p:spPr>
          <a:xfrm>
            <a:off x="5029200" y="2450592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B3D"/>
                </a:solidFill>
              </a:rPr>
              <a:t>mcp.json por workspace, en Copilot Agent Mode.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548640" y="3017520"/>
            <a:ext cx="3794760" cy="1508760"/>
          </a:xfrm>
          <a:prstGeom prst="roundRect">
            <a:avLst>
              <a:gd name="adj" fmla="val 6061"/>
            </a:avLst>
          </a:prstGeom>
          <a:solidFill>
            <a:srgbClr val="EEF3FF"/>
          </a:solidFill>
          <a:ln/>
        </p:spPr>
      </p:sp>
      <p:sp>
        <p:nvSpPr>
          <p:cNvPr id="14" name="Shape 10"/>
          <p:cNvSpPr/>
          <p:nvPr/>
        </p:nvSpPr>
        <p:spPr>
          <a:xfrm>
            <a:off x="777240" y="3218688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" y="3328416"/>
            <a:ext cx="237744" cy="237744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777240" y="3767328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</a:rPr>
              <a:t>Google Antigravity</a:t>
            </a:r>
            <a:endParaRPr lang="en-US" sz="1350" dirty="0"/>
          </a:p>
        </p:txBody>
      </p:sp>
      <p:sp>
        <p:nvSpPr>
          <p:cNvPr id="17" name="Text 12"/>
          <p:cNvSpPr txBox="1"/>
          <p:nvPr/>
        </p:nvSpPr>
        <p:spPr>
          <a:xfrm>
            <a:off x="777240" y="4096512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B3D"/>
                </a:solidFill>
              </a:rPr>
              <a:t>IDE agéntico con servidores MCP locales y remotos.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4800600" y="3017520"/>
            <a:ext cx="3794760" cy="1508760"/>
          </a:xfrm>
          <a:prstGeom prst="roundRect">
            <a:avLst>
              <a:gd name="adj" fmla="val 6061"/>
            </a:avLst>
          </a:prstGeom>
          <a:solidFill>
            <a:srgbClr val="EEF3FF"/>
          </a:solidFill>
          <a:ln/>
        </p:spPr>
      </p:sp>
      <p:sp>
        <p:nvSpPr>
          <p:cNvPr id="19" name="Shape 14"/>
          <p:cNvSpPr/>
          <p:nvPr/>
        </p:nvSpPr>
        <p:spPr>
          <a:xfrm>
            <a:off x="5029200" y="3218688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38928" y="3328416"/>
            <a:ext cx="237744" cy="237744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5029200" y="3767328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</a:rPr>
              <a:t>Cursor</a:t>
            </a:r>
            <a:endParaRPr lang="en-US" sz="1350" dirty="0"/>
          </a:p>
        </p:txBody>
      </p:sp>
      <p:sp>
        <p:nvSpPr>
          <p:cNvPr id="22" name="Text 16"/>
          <p:cNvSpPr txBox="1"/>
          <p:nvPr/>
        </p:nvSpPr>
        <p:spPr>
          <a:xfrm>
            <a:off x="5029200" y="4096512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B3D"/>
                </a:solidFill>
              </a:rPr>
              <a:t>Editor con servidores MCP configurables por proyecto.</a:t>
            </a:r>
            <a:endParaRPr lang="en-US" sz="1150" dirty="0"/>
          </a:p>
        </p:txBody>
      </p:sp>
      <p:sp>
        <p:nvSpPr>
          <p:cNvPr id="23" name="Text 17"/>
          <p:cNvSpPr txBox="1"/>
          <p:nvPr/>
        </p:nvSpPr>
        <p:spPr>
          <a:xfrm>
            <a:off x="8366760" y="4864608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9 / 10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8229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cambia esto?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1188720" y="1828800"/>
            <a:ext cx="67665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900" i="1" dirty="0">
                <a:solidFill>
                  <a:srgbClr val="CADCFC"/>
                </a:solidFill>
              </a:rPr>
              <a:t>"El modelo ahora puede descubrir qué herramientas tiene y decidir cuál usar — no porque sea más inteligente, sino porque hay un protocolo estándar para pedir permiso y actuar."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41148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Gracias · Preguntas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8366760" y="4864608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</a:rPr>
              <a:t>10 / 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MCP y el servidor de sistema de archivos</dc:title>
  <dc:subject>PptxGenJS Presentation</dc:subject>
  <dc:creator>Javier Gamez</dc:creator>
  <cp:lastModifiedBy>Javier Gamez</cp:lastModifiedBy>
  <cp:revision>1</cp:revision>
  <dcterms:created xsi:type="dcterms:W3CDTF">2026-09-20T19:17:20Z</dcterms:created>
  <dcterms:modified xsi:type="dcterms:W3CDTF">2026-09-20T19:17:20Z</dcterms:modified>
</cp:coreProperties>
</file>