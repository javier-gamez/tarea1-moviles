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3" r:id="rId8"/>
    <p:sldId id="264" r:id="rId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7" d="100"/>
          <a:sy n="117" d="100"/>
        </p:scale>
        <p:origin x="466" y="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284568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Título: "MCP y el servidor de sistema de archivos". Subtítulo: "De copiar y pegar texto a que un modelo opere archivos locales".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LLM es una función texto→texto: no ejecuta llamadas al sistema operativo, corre en un servidor remoto, no tiene canal hacia el disco del usuario. Dos razones: (1) Arquitectura — el modelo corre remoto, sin canal de red al disco. (2) Seguridad — aislamiento por diseño, consentimiento del usuario, riesgo de inyección de instrucciones.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API tradicional: el desarrollador decide de antemano, en el código, qué endpoint llamar; esa decisión queda fija antes de que el programa corra. MCP: el servidor publica un catálogo de herramientas en tiempo real; el modelo decide cuál invocar según lo que el usuario pidió en ese momento. Aclaración: MCP NO sustituye a las APIs — casi todo servidor MCP envuelve una API o recurso ya existente. Tampoco es de un solo proveedor: es un protocolo abierto.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Tabla comparativa. Quién decide: desarrollador de antemano vs. modelo en tiempo de ejecución. Descubrimiento: documentación externa vs. tools/list en tiempo real. Acoplamiento: alto vs. bajo. Formato: variable (REST, GraphQL...) vs. estandarizado JSON-RPC 2.0.</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 = la app completa (Claude Code en mi caso). Cliente = componente dentro del host con conexión 1:1 a un servidor. Servidor = proceso independiente que expone capacidades (en mi caso, @modelcontextprotocol/server-filesystem). El servidor expone: tools, resources, prompts. Transportes: stdio (local, proceso hijo) / Streamable HTTP (remoto).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"FS" NO es parte del protocolo MCP — es uno de varios servidores de referencia (junto con Git, SQLite, memoria...). MCP es agnóstico al dominio. Herramientas: listar, leer, escribir/editar, buscar. El alcance se delimita por "directorios permitidos"; toda ruta se valida dentro del proceso servidor antes de tocar el disco.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Configuramos el acceso a una subcarpeta (workspace/), pero el alcance real terminó siendo toda la carpeta del proyecto, porque el cliente le comunica al servidor sus propios "roots", que reemplazan el argumento de línea de comandos. Error real: "Access denied - path outside allowed directories". El servidor rechaza la ruta antes de comprobar si el archivo existe.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Code / Claude Desktop (Anthropic), VS Code + GitHub Copilot (Microsoft), Google Antigravity (Google), Cursor (Anysphere) — todas usan MCP para editar repositorios completos sin subir archivos manualmente.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9.png"/><Relationship Id="rId7"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1.png"/><Relationship Id="rId10" Type="http://schemas.openxmlformats.org/officeDocument/2006/relationships/image" Target="../media/image14.png"/><Relationship Id="rId4" Type="http://schemas.openxmlformats.org/officeDocument/2006/relationships/image" Target="../media/image10.png"/><Relationship Id="rId9" Type="http://schemas.openxmlformats.org/officeDocument/2006/relationships/image" Target="../media/image1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a:effectLst/>
      </p:bgPr>
    </p:bg>
    <p:spTree>
      <p:nvGrpSpPr>
        <p:cNvPr id="1" name=""/>
        <p:cNvGrpSpPr/>
        <p:nvPr/>
      </p:nvGrpSpPr>
      <p:grpSpPr>
        <a:xfrm>
          <a:off x="0" y="0"/>
          <a:ext cx="0" cy="0"/>
          <a:chOff x="0" y="0"/>
          <a:chExt cx="0" cy="0"/>
        </a:xfrm>
      </p:grpSpPr>
      <p:sp>
        <p:nvSpPr>
          <p:cNvPr id="2" name="Text 0"/>
          <p:cNvSpPr txBox="1"/>
          <p:nvPr/>
        </p:nvSpPr>
        <p:spPr>
          <a:xfrm>
            <a:off x="548640" y="868680"/>
            <a:ext cx="5029200" cy="320040"/>
          </a:xfrm>
          <a:prstGeom prst="rect">
            <a:avLst/>
          </a:prstGeom>
          <a:noFill/>
          <a:ln/>
        </p:spPr>
        <p:txBody>
          <a:bodyPr wrap="square" lIns="0" tIns="0" rIns="0" bIns="0" rtlCol="0" anchor="ctr"/>
          <a:lstStyle/>
          <a:p>
            <a:pPr marL="0" indent="0">
              <a:buNone/>
            </a:pPr>
            <a:r>
              <a:rPr lang="en-US" sz="1200" b="1" kern="0" spc="400" dirty="0">
                <a:solidFill>
                  <a:srgbClr val="F5A524"/>
                </a:solidFill>
                <a:latin typeface="Calibri" pitchFamily="34" charset="0"/>
                <a:ea typeface="Calibri" pitchFamily="34" charset="-122"/>
                <a:cs typeface="Calibri" pitchFamily="34" charset="-120"/>
              </a:rPr>
              <a:t>MODEL CONTEXT PROTOCOL</a:t>
            </a:r>
            <a:endParaRPr lang="en-US" sz="1200" dirty="0"/>
          </a:p>
        </p:txBody>
      </p:sp>
      <p:sp>
        <p:nvSpPr>
          <p:cNvPr id="3" name="Text 1"/>
          <p:cNvSpPr txBox="1"/>
          <p:nvPr/>
        </p:nvSpPr>
        <p:spPr>
          <a:xfrm>
            <a:off x="548640" y="1280160"/>
            <a:ext cx="4937760" cy="1737360"/>
          </a:xfrm>
          <a:prstGeom prst="rect">
            <a:avLst/>
          </a:prstGeom>
          <a:noFill/>
          <a:ln/>
        </p:spPr>
        <p:txBody>
          <a:bodyPr wrap="square" lIns="0" tIns="0" rIns="0" bIns="0" rtlCol="0" anchor="t"/>
          <a:lstStyle/>
          <a:p>
            <a:pPr marL="0" indent="0">
              <a:buNone/>
            </a:pPr>
            <a:r>
              <a:rPr lang="en-US" sz="3400" b="1" dirty="0">
                <a:solidFill>
                  <a:srgbClr val="FFFFFF"/>
                </a:solidFill>
                <a:latin typeface="Cambria" pitchFamily="34" charset="0"/>
                <a:ea typeface="Cambria" pitchFamily="34" charset="-122"/>
                <a:cs typeface="Cambria" pitchFamily="34" charset="-120"/>
              </a:rPr>
              <a:t>MCP y el servidor de sistema de archivos</a:t>
            </a:r>
            <a:endParaRPr lang="en-US" sz="3400" dirty="0"/>
          </a:p>
        </p:txBody>
      </p:sp>
      <p:sp>
        <p:nvSpPr>
          <p:cNvPr id="4" name="Text 2"/>
          <p:cNvSpPr txBox="1"/>
          <p:nvPr/>
        </p:nvSpPr>
        <p:spPr>
          <a:xfrm>
            <a:off x="548640" y="2926080"/>
            <a:ext cx="4572000" cy="777240"/>
          </a:xfrm>
          <a:prstGeom prst="rect">
            <a:avLst/>
          </a:prstGeom>
          <a:noFill/>
          <a:ln/>
        </p:spPr>
        <p:txBody>
          <a:bodyPr wrap="square" lIns="0" tIns="0" rIns="0" bIns="0" rtlCol="0" anchor="t"/>
          <a:lstStyle/>
          <a:p>
            <a:pPr marL="0" indent="0">
              <a:buNone/>
            </a:pPr>
            <a:r>
              <a:rPr lang="en-US" sz="1700" dirty="0">
                <a:solidFill>
                  <a:srgbClr val="CADCFC"/>
                </a:solidFill>
                <a:latin typeface="Calibri" pitchFamily="34" charset="0"/>
                <a:ea typeface="Calibri" pitchFamily="34" charset="-122"/>
                <a:cs typeface="Calibri" pitchFamily="34" charset="-120"/>
              </a:rPr>
              <a:t>De copiar y pegar texto a que un modelo opere archivos locales</a:t>
            </a:r>
            <a:endParaRPr lang="en-US" sz="1700" dirty="0"/>
          </a:p>
        </p:txBody>
      </p:sp>
      <p:sp>
        <p:nvSpPr>
          <p:cNvPr id="5" name="Text 3"/>
          <p:cNvSpPr txBox="1"/>
          <p:nvPr/>
        </p:nvSpPr>
        <p:spPr>
          <a:xfrm>
            <a:off x="548640" y="4206240"/>
            <a:ext cx="5303520" cy="320040"/>
          </a:xfrm>
          <a:prstGeom prst="rect">
            <a:avLst/>
          </a:prstGeom>
          <a:noFill/>
          <a:ln/>
        </p:spPr>
        <p:txBody>
          <a:bodyPr wrap="square" lIns="0" tIns="0" rIns="0" bIns="0" rtlCol="0" anchor="ctr"/>
          <a:lstStyle/>
          <a:p>
            <a:pPr marL="0" indent="0">
              <a:buNone/>
            </a:pPr>
            <a:r>
              <a:rPr lang="en-US" sz="1200" dirty="0">
                <a:solidFill>
                  <a:srgbClr val="9FB3D1"/>
                </a:solidFill>
                <a:latin typeface="Calibri" pitchFamily="34" charset="0"/>
                <a:ea typeface="Calibri" pitchFamily="34" charset="-122"/>
                <a:cs typeface="Calibri" pitchFamily="34" charset="-120"/>
              </a:rPr>
              <a:t>Javier de Jesús </a:t>
            </a:r>
            <a:r>
              <a:rPr lang="en-US" sz="1200" dirty="0" err="1">
                <a:solidFill>
                  <a:srgbClr val="9FB3D1"/>
                </a:solidFill>
                <a:latin typeface="Calibri" pitchFamily="34" charset="0"/>
                <a:ea typeface="Calibri" pitchFamily="34" charset="-122"/>
                <a:cs typeface="Calibri" pitchFamily="34" charset="-120"/>
              </a:rPr>
              <a:t>Gámez</a:t>
            </a:r>
            <a:r>
              <a:rPr lang="en-US" sz="1200">
                <a:solidFill>
                  <a:srgbClr val="9FB3D1"/>
                </a:solidFill>
                <a:latin typeface="Calibri" pitchFamily="34" charset="0"/>
                <a:ea typeface="Calibri" pitchFamily="34" charset="-122"/>
                <a:cs typeface="Calibri" pitchFamily="34" charset="-120"/>
              </a:rPr>
              <a:t> Rosas</a:t>
            </a:r>
            <a:endParaRPr lang="en-US" sz="1200" dirty="0"/>
          </a:p>
        </p:txBody>
      </p:sp>
      <p:sp>
        <p:nvSpPr>
          <p:cNvPr id="6" name="Shape 4"/>
          <p:cNvSpPr/>
          <p:nvPr/>
        </p:nvSpPr>
        <p:spPr>
          <a:xfrm>
            <a:off x="6149340" y="777240"/>
            <a:ext cx="868680" cy="868680"/>
          </a:xfrm>
          <a:prstGeom prst="ellipse">
            <a:avLst/>
          </a:prstGeom>
          <a:solidFill>
            <a:srgbClr val="16345F"/>
          </a:solidFill>
          <a:ln w="12700">
            <a:solidFill>
              <a:srgbClr val="16345F"/>
            </a:solidFill>
            <a:prstDash val="solid"/>
          </a:ln>
        </p:spPr>
        <p:txBody>
          <a:bodyPr/>
          <a:lstStyle/>
          <a:p>
            <a:endParaRPr lang="es-MX"/>
          </a:p>
        </p:txBody>
      </p:sp>
      <p:pic>
        <p:nvPicPr>
          <p:cNvPr id="7" name="Image 0" descr="preencoded.png"/>
          <p:cNvPicPr>
            <a:picLocks noChangeAspect="1"/>
          </p:cNvPicPr>
          <p:nvPr/>
        </p:nvPicPr>
        <p:blipFill>
          <a:blip r:embed="rId3"/>
          <a:stretch>
            <a:fillRect/>
          </a:stretch>
        </p:blipFill>
        <p:spPr>
          <a:xfrm>
            <a:off x="6366510" y="994410"/>
            <a:ext cx="434340" cy="434340"/>
          </a:xfrm>
          <a:prstGeom prst="rect">
            <a:avLst/>
          </a:prstGeom>
        </p:spPr>
      </p:pic>
      <p:sp>
        <p:nvSpPr>
          <p:cNvPr id="8" name="Shape 5"/>
          <p:cNvSpPr/>
          <p:nvPr/>
        </p:nvSpPr>
        <p:spPr>
          <a:xfrm>
            <a:off x="6149340" y="2130552"/>
            <a:ext cx="868680" cy="868680"/>
          </a:xfrm>
          <a:prstGeom prst="ellipse">
            <a:avLst/>
          </a:prstGeom>
          <a:solidFill>
            <a:srgbClr val="F5A524"/>
          </a:solidFill>
          <a:ln w="12700">
            <a:solidFill>
              <a:srgbClr val="F5A524"/>
            </a:solidFill>
            <a:prstDash val="solid"/>
          </a:ln>
        </p:spPr>
        <p:txBody>
          <a:bodyPr/>
          <a:lstStyle/>
          <a:p>
            <a:endParaRPr lang="es-MX"/>
          </a:p>
        </p:txBody>
      </p:sp>
      <p:pic>
        <p:nvPicPr>
          <p:cNvPr id="9" name="Image 1" descr="preencoded.png"/>
          <p:cNvPicPr>
            <a:picLocks noChangeAspect="1"/>
          </p:cNvPicPr>
          <p:nvPr/>
        </p:nvPicPr>
        <p:blipFill>
          <a:blip r:embed="rId4"/>
          <a:stretch>
            <a:fillRect/>
          </a:stretch>
        </p:blipFill>
        <p:spPr>
          <a:xfrm>
            <a:off x="6366510" y="2347722"/>
            <a:ext cx="434340" cy="434340"/>
          </a:xfrm>
          <a:prstGeom prst="rect">
            <a:avLst/>
          </a:prstGeom>
        </p:spPr>
      </p:pic>
      <p:sp>
        <p:nvSpPr>
          <p:cNvPr id="10" name="Shape 6"/>
          <p:cNvSpPr/>
          <p:nvPr/>
        </p:nvSpPr>
        <p:spPr>
          <a:xfrm>
            <a:off x="6149340" y="3483864"/>
            <a:ext cx="868680" cy="868680"/>
          </a:xfrm>
          <a:prstGeom prst="ellipse">
            <a:avLst/>
          </a:prstGeom>
          <a:solidFill>
            <a:srgbClr val="16345F"/>
          </a:solidFill>
          <a:ln w="12700">
            <a:solidFill>
              <a:srgbClr val="16345F"/>
            </a:solidFill>
            <a:prstDash val="solid"/>
          </a:ln>
        </p:spPr>
        <p:txBody>
          <a:bodyPr/>
          <a:lstStyle/>
          <a:p>
            <a:endParaRPr lang="es-MX"/>
          </a:p>
        </p:txBody>
      </p:sp>
      <p:pic>
        <p:nvPicPr>
          <p:cNvPr id="11" name="Image 2" descr="preencoded.png"/>
          <p:cNvPicPr>
            <a:picLocks noChangeAspect="1"/>
          </p:cNvPicPr>
          <p:nvPr/>
        </p:nvPicPr>
        <p:blipFill>
          <a:blip r:embed="rId5"/>
          <a:stretch>
            <a:fillRect/>
          </a:stretch>
        </p:blipFill>
        <p:spPr>
          <a:xfrm>
            <a:off x="6366510" y="3701034"/>
            <a:ext cx="434340" cy="434340"/>
          </a:xfrm>
          <a:prstGeom prst="rect">
            <a:avLst/>
          </a:prstGeom>
        </p:spPr>
      </p:pic>
      <p:sp>
        <p:nvSpPr>
          <p:cNvPr id="12" name="Shape 7"/>
          <p:cNvSpPr/>
          <p:nvPr/>
        </p:nvSpPr>
        <p:spPr>
          <a:xfrm>
            <a:off x="6583680" y="1645920"/>
            <a:ext cx="0" cy="484632"/>
          </a:xfrm>
          <a:prstGeom prst="line">
            <a:avLst/>
          </a:prstGeom>
          <a:noFill/>
          <a:ln w="25400">
            <a:solidFill>
              <a:srgbClr val="F5A524"/>
            </a:solidFill>
            <a:prstDash val="dash"/>
            <a:tailEnd type="triangle"/>
          </a:ln>
        </p:spPr>
        <p:txBody>
          <a:bodyPr/>
          <a:lstStyle/>
          <a:p>
            <a:endParaRPr lang="es-MX"/>
          </a:p>
        </p:txBody>
      </p:sp>
      <p:sp>
        <p:nvSpPr>
          <p:cNvPr id="13" name="Shape 8"/>
          <p:cNvSpPr/>
          <p:nvPr/>
        </p:nvSpPr>
        <p:spPr>
          <a:xfrm>
            <a:off x="6583680" y="2999232"/>
            <a:ext cx="0" cy="484632"/>
          </a:xfrm>
          <a:prstGeom prst="line">
            <a:avLst/>
          </a:prstGeom>
          <a:noFill/>
          <a:ln w="25400">
            <a:solidFill>
              <a:srgbClr val="F5A524"/>
            </a:solidFill>
            <a:prstDash val="dash"/>
            <a:tailEnd type="triangle"/>
          </a:ln>
        </p:spPr>
        <p:txBody>
          <a:bodyPr/>
          <a:lstStyle/>
          <a:p>
            <a:endParaRPr lang="es-MX"/>
          </a:p>
        </p:txBody>
      </p:sp>
      <p:sp>
        <p:nvSpPr>
          <p:cNvPr id="14" name="Text 9"/>
          <p:cNvSpPr txBox="1"/>
          <p:nvPr/>
        </p:nvSpPr>
        <p:spPr>
          <a:xfrm>
            <a:off x="7269480" y="1005840"/>
            <a:ext cx="1463040" cy="41148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Modelo</a:t>
            </a:r>
            <a:endParaRPr lang="en-US" sz="1600" dirty="0"/>
          </a:p>
        </p:txBody>
      </p:sp>
      <p:sp>
        <p:nvSpPr>
          <p:cNvPr id="15" name="Text 10"/>
          <p:cNvSpPr txBox="1"/>
          <p:nvPr/>
        </p:nvSpPr>
        <p:spPr>
          <a:xfrm>
            <a:off x="7269480" y="2359152"/>
            <a:ext cx="1463040" cy="411480"/>
          </a:xfrm>
          <a:prstGeom prst="rect">
            <a:avLst/>
          </a:prstGeom>
          <a:noFill/>
          <a:ln/>
        </p:spPr>
        <p:txBody>
          <a:bodyPr wrap="square" lIns="0" tIns="0" rIns="0" bIns="0" rtlCol="0" anchor="ctr"/>
          <a:lstStyle/>
          <a:p>
            <a:pPr marL="0" indent="0">
              <a:buNone/>
            </a:pPr>
            <a:r>
              <a:rPr lang="en-US" sz="1600" b="1" dirty="0">
                <a:solidFill>
                  <a:srgbClr val="F5A524"/>
                </a:solidFill>
                <a:latin typeface="Calibri" pitchFamily="34" charset="0"/>
                <a:ea typeface="Calibri" pitchFamily="34" charset="-122"/>
                <a:cs typeface="Calibri" pitchFamily="34" charset="-120"/>
              </a:rPr>
              <a:t>MCP</a:t>
            </a:r>
            <a:endParaRPr lang="en-US" sz="1600" dirty="0"/>
          </a:p>
        </p:txBody>
      </p:sp>
      <p:sp>
        <p:nvSpPr>
          <p:cNvPr id="16" name="Text 11"/>
          <p:cNvSpPr txBox="1"/>
          <p:nvPr/>
        </p:nvSpPr>
        <p:spPr>
          <a:xfrm>
            <a:off x="7269480" y="3712464"/>
            <a:ext cx="1463040" cy="41148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Archivos locales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C"/>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marL="0" indent="0">
              <a:buNone/>
            </a:pPr>
            <a:r>
              <a:rPr lang="en-US" sz="3000" b="1" dirty="0">
                <a:solidFill>
                  <a:srgbClr val="0B1F3A"/>
                </a:solidFill>
                <a:latin typeface="Cambria" pitchFamily="34" charset="0"/>
                <a:ea typeface="Cambria" pitchFamily="34" charset="-122"/>
                <a:cs typeface="Cambria" pitchFamily="34" charset="-120"/>
              </a:rPr>
              <a:t>El problema del aislamiento</a:t>
            </a:r>
            <a:endParaRPr lang="en-US" sz="3000" dirty="0"/>
          </a:p>
        </p:txBody>
      </p:sp>
      <p:sp>
        <p:nvSpPr>
          <p:cNvPr id="3" name="Shape 1"/>
          <p:cNvSpPr/>
          <p:nvPr/>
        </p:nvSpPr>
        <p:spPr>
          <a:xfrm>
            <a:off x="457200" y="1188720"/>
            <a:ext cx="3017520" cy="1737360"/>
          </a:xfrm>
          <a:prstGeom prst="roundRect">
            <a:avLst>
              <a:gd name="adj" fmla="val 6316"/>
            </a:avLst>
          </a:prstGeom>
          <a:solidFill>
            <a:srgbClr val="FFFFFF"/>
          </a:solidFill>
          <a:ln w="9525">
            <a:solidFill>
              <a:srgbClr val="D5DEEA"/>
            </a:solidFill>
            <a:prstDash val="solid"/>
          </a:ln>
          <a:effectLst>
            <a:outerShdw blurRad="101600" dist="25400" dir="5400000" algn="bl" rotWithShape="0">
              <a:srgbClr val="0B1F3A">
                <a:alpha val="12000"/>
              </a:srgbClr>
            </a:outerShdw>
          </a:effectLst>
        </p:spPr>
        <p:txBody>
          <a:bodyPr/>
          <a:lstStyle/>
          <a:p>
            <a:endParaRPr lang="es-MX"/>
          </a:p>
        </p:txBody>
      </p:sp>
      <p:sp>
        <p:nvSpPr>
          <p:cNvPr id="4" name="Shape 2"/>
          <p:cNvSpPr/>
          <p:nvPr/>
        </p:nvSpPr>
        <p:spPr>
          <a:xfrm>
            <a:off x="685800" y="1371600"/>
            <a:ext cx="640080" cy="640080"/>
          </a:xfrm>
          <a:prstGeom prst="ellipse">
            <a:avLst/>
          </a:prstGeom>
          <a:solidFill>
            <a:srgbClr val="0B1F3A"/>
          </a:solidFill>
          <a:ln w="12700">
            <a:solidFill>
              <a:srgbClr val="0B1F3A"/>
            </a:solidFill>
            <a:prstDash val="solid"/>
          </a:ln>
        </p:spPr>
        <p:txBody>
          <a:bodyPr/>
          <a:lstStyle/>
          <a:p>
            <a:endParaRPr lang="es-MX"/>
          </a:p>
        </p:txBody>
      </p:sp>
      <p:pic>
        <p:nvPicPr>
          <p:cNvPr id="5" name="Image 0" descr="preencoded.png"/>
          <p:cNvPicPr>
            <a:picLocks noChangeAspect="1"/>
          </p:cNvPicPr>
          <p:nvPr/>
        </p:nvPicPr>
        <p:blipFill>
          <a:blip r:embed="rId3"/>
          <a:stretch>
            <a:fillRect/>
          </a:stretch>
        </p:blipFill>
        <p:spPr>
          <a:xfrm>
            <a:off x="845820" y="1531620"/>
            <a:ext cx="320040" cy="320040"/>
          </a:xfrm>
          <a:prstGeom prst="rect">
            <a:avLst/>
          </a:prstGeom>
        </p:spPr>
      </p:pic>
      <p:sp>
        <p:nvSpPr>
          <p:cNvPr id="6" name="Text 3"/>
          <p:cNvSpPr txBox="1"/>
          <p:nvPr/>
        </p:nvSpPr>
        <p:spPr>
          <a:xfrm>
            <a:off x="1463040" y="1371600"/>
            <a:ext cx="1828800" cy="384048"/>
          </a:xfrm>
          <a:prstGeom prst="rect">
            <a:avLst/>
          </a:prstGeom>
          <a:noFill/>
          <a:ln/>
        </p:spPr>
        <p:txBody>
          <a:bodyPr wrap="square" lIns="0" tIns="0" rIns="0" bIns="0" rtlCol="0" anchor="ctr"/>
          <a:lstStyle/>
          <a:p>
            <a:pPr marL="0" indent="0">
              <a:buNone/>
            </a:pPr>
            <a:r>
              <a:rPr lang="en-US" sz="2400" b="1" dirty="0">
                <a:solidFill>
                  <a:srgbClr val="0B1F3A"/>
                </a:solidFill>
                <a:latin typeface="Cambria" pitchFamily="34" charset="0"/>
                <a:ea typeface="Cambria" pitchFamily="34" charset="-122"/>
                <a:cs typeface="Cambria" pitchFamily="34" charset="-120"/>
              </a:rPr>
              <a:t>LLM</a:t>
            </a:r>
            <a:endParaRPr lang="en-US" sz="2400" dirty="0"/>
          </a:p>
        </p:txBody>
      </p:sp>
      <p:sp>
        <p:nvSpPr>
          <p:cNvPr id="7" name="Text 4"/>
          <p:cNvSpPr txBox="1"/>
          <p:nvPr/>
        </p:nvSpPr>
        <p:spPr>
          <a:xfrm>
            <a:off x="1463040" y="1755648"/>
            <a:ext cx="1828800" cy="256032"/>
          </a:xfrm>
          <a:prstGeom prst="rect">
            <a:avLst/>
          </a:prstGeom>
          <a:noFill/>
          <a:ln/>
        </p:spPr>
        <p:txBody>
          <a:bodyPr wrap="square" lIns="0" tIns="0" rIns="0" bIns="0" rtlCol="0" anchor="ctr"/>
          <a:lstStyle/>
          <a:p>
            <a:pPr marL="0" indent="0">
              <a:buNone/>
            </a:pPr>
            <a:r>
              <a:rPr lang="en-US" sz="1200" dirty="0">
                <a:solidFill>
                  <a:srgbClr val="5B6B82"/>
                </a:solidFill>
                <a:latin typeface="Calibri" pitchFamily="34" charset="0"/>
                <a:ea typeface="Calibri" pitchFamily="34" charset="-122"/>
                <a:cs typeface="Calibri" pitchFamily="34" charset="-120"/>
              </a:rPr>
              <a:t>servidor remoto</a:t>
            </a:r>
            <a:endParaRPr lang="en-US" sz="1200" dirty="0"/>
          </a:p>
        </p:txBody>
      </p:sp>
      <p:sp>
        <p:nvSpPr>
          <p:cNvPr id="8" name="Shape 5"/>
          <p:cNvSpPr/>
          <p:nvPr/>
        </p:nvSpPr>
        <p:spPr>
          <a:xfrm>
            <a:off x="731520" y="2286000"/>
            <a:ext cx="2468880" cy="411480"/>
          </a:xfrm>
          <a:prstGeom prst="roundRect">
            <a:avLst>
              <a:gd name="adj" fmla="val 50000"/>
            </a:avLst>
          </a:prstGeom>
          <a:solidFill>
            <a:srgbClr val="F5A524"/>
          </a:solidFill>
          <a:ln w="12700">
            <a:solidFill>
              <a:srgbClr val="F5A524"/>
            </a:solidFill>
            <a:prstDash val="solid"/>
          </a:ln>
        </p:spPr>
        <p:txBody>
          <a:bodyPr/>
          <a:lstStyle/>
          <a:p>
            <a:endParaRPr lang="es-MX"/>
          </a:p>
        </p:txBody>
      </p:sp>
      <p:sp>
        <p:nvSpPr>
          <p:cNvPr id="9" name="Text 6"/>
          <p:cNvSpPr txBox="1"/>
          <p:nvPr/>
        </p:nvSpPr>
        <p:spPr>
          <a:xfrm>
            <a:off x="731520" y="2286000"/>
            <a:ext cx="2468880" cy="411480"/>
          </a:xfrm>
          <a:prstGeom prst="rect">
            <a:avLst/>
          </a:prstGeom>
          <a:noFill/>
          <a:ln/>
        </p:spPr>
        <p:txBody>
          <a:bodyPr wrap="square" lIns="0" tIns="0" rIns="0" bIns="0" rtlCol="0" anchor="ctr"/>
          <a:lstStyle/>
          <a:p>
            <a:pPr marL="0" indent="0" algn="ctr">
              <a:buNone/>
            </a:pPr>
            <a:r>
              <a:rPr lang="en-US" sz="1600" b="1" dirty="0">
                <a:solidFill>
                  <a:srgbClr val="0B1F3A"/>
                </a:solidFill>
                <a:latin typeface="Calibri" pitchFamily="34" charset="0"/>
                <a:ea typeface="Calibri" pitchFamily="34" charset="-122"/>
                <a:cs typeface="Calibri" pitchFamily="34" charset="-120"/>
              </a:rPr>
              <a:t>texto  →  texto</a:t>
            </a:r>
            <a:endParaRPr lang="en-US" sz="1600" dirty="0"/>
          </a:p>
        </p:txBody>
      </p:sp>
      <p:sp>
        <p:nvSpPr>
          <p:cNvPr id="10" name="Shape 7"/>
          <p:cNvSpPr/>
          <p:nvPr/>
        </p:nvSpPr>
        <p:spPr>
          <a:xfrm>
            <a:off x="5669280" y="1188720"/>
            <a:ext cx="3017520" cy="1737360"/>
          </a:xfrm>
          <a:prstGeom prst="roundRect">
            <a:avLst>
              <a:gd name="adj" fmla="val 6316"/>
            </a:avLst>
          </a:prstGeom>
          <a:solidFill>
            <a:srgbClr val="FFFFFF"/>
          </a:solidFill>
          <a:ln w="9525">
            <a:solidFill>
              <a:srgbClr val="D5DEEA"/>
            </a:solidFill>
            <a:prstDash val="solid"/>
          </a:ln>
          <a:effectLst>
            <a:outerShdw blurRad="101600" dist="25400" dir="5400000" algn="bl" rotWithShape="0">
              <a:srgbClr val="0B1F3A">
                <a:alpha val="12000"/>
              </a:srgbClr>
            </a:outerShdw>
          </a:effectLst>
        </p:spPr>
        <p:txBody>
          <a:bodyPr/>
          <a:lstStyle/>
          <a:p>
            <a:endParaRPr lang="es-MX"/>
          </a:p>
        </p:txBody>
      </p:sp>
      <p:sp>
        <p:nvSpPr>
          <p:cNvPr id="11" name="Shape 8"/>
          <p:cNvSpPr/>
          <p:nvPr/>
        </p:nvSpPr>
        <p:spPr>
          <a:xfrm>
            <a:off x="5897880" y="1371600"/>
            <a:ext cx="640080" cy="640080"/>
          </a:xfrm>
          <a:prstGeom prst="ellipse">
            <a:avLst/>
          </a:prstGeom>
          <a:solidFill>
            <a:srgbClr val="0B1F3A"/>
          </a:solidFill>
          <a:ln w="12700">
            <a:solidFill>
              <a:srgbClr val="0B1F3A"/>
            </a:solidFill>
            <a:prstDash val="solid"/>
          </a:ln>
        </p:spPr>
        <p:txBody>
          <a:bodyPr/>
          <a:lstStyle/>
          <a:p>
            <a:endParaRPr lang="es-MX"/>
          </a:p>
        </p:txBody>
      </p:sp>
      <p:pic>
        <p:nvPicPr>
          <p:cNvPr id="12" name="Image 1" descr="preencoded.png"/>
          <p:cNvPicPr>
            <a:picLocks noChangeAspect="1"/>
          </p:cNvPicPr>
          <p:nvPr/>
        </p:nvPicPr>
        <p:blipFill>
          <a:blip r:embed="rId4"/>
          <a:stretch>
            <a:fillRect/>
          </a:stretch>
        </p:blipFill>
        <p:spPr>
          <a:xfrm>
            <a:off x="6057900" y="1531620"/>
            <a:ext cx="320040" cy="320040"/>
          </a:xfrm>
          <a:prstGeom prst="rect">
            <a:avLst/>
          </a:prstGeom>
        </p:spPr>
      </p:pic>
      <p:sp>
        <p:nvSpPr>
          <p:cNvPr id="13" name="Text 9"/>
          <p:cNvSpPr txBox="1"/>
          <p:nvPr/>
        </p:nvSpPr>
        <p:spPr>
          <a:xfrm>
            <a:off x="6675120" y="1371600"/>
            <a:ext cx="1920240" cy="384048"/>
          </a:xfrm>
          <a:prstGeom prst="rect">
            <a:avLst/>
          </a:prstGeom>
          <a:noFill/>
          <a:ln/>
        </p:spPr>
        <p:txBody>
          <a:bodyPr wrap="square" lIns="0" tIns="0" rIns="0" bIns="0" rtlCol="0" anchor="ctr"/>
          <a:lstStyle/>
          <a:p>
            <a:pPr marL="0" indent="0">
              <a:buNone/>
            </a:pPr>
            <a:r>
              <a:rPr lang="en-US" sz="1600" b="1" dirty="0">
                <a:solidFill>
                  <a:srgbClr val="0B1F3A"/>
                </a:solidFill>
                <a:latin typeface="Calibri" pitchFamily="34" charset="0"/>
                <a:ea typeface="Calibri" pitchFamily="34" charset="-122"/>
                <a:cs typeface="Calibri" pitchFamily="34" charset="-120"/>
              </a:rPr>
              <a:t>Disco del usuario</a:t>
            </a:r>
            <a:endParaRPr lang="en-US" sz="1600" dirty="0"/>
          </a:p>
        </p:txBody>
      </p:sp>
      <p:sp>
        <p:nvSpPr>
          <p:cNvPr id="14" name="Text 10"/>
          <p:cNvSpPr txBox="1"/>
          <p:nvPr/>
        </p:nvSpPr>
        <p:spPr>
          <a:xfrm>
            <a:off x="6675120" y="1755648"/>
            <a:ext cx="1920240" cy="256032"/>
          </a:xfrm>
          <a:prstGeom prst="rect">
            <a:avLst/>
          </a:prstGeom>
          <a:noFill/>
          <a:ln/>
        </p:spPr>
        <p:txBody>
          <a:bodyPr wrap="square" lIns="0" tIns="0" rIns="0" bIns="0" rtlCol="0" anchor="ctr"/>
          <a:lstStyle/>
          <a:p>
            <a:pPr marL="0" indent="0">
              <a:buNone/>
            </a:pPr>
            <a:r>
              <a:rPr lang="en-US" sz="1200" dirty="0">
                <a:solidFill>
                  <a:srgbClr val="5B6B82"/>
                </a:solidFill>
                <a:latin typeface="Calibri" pitchFamily="34" charset="0"/>
                <a:ea typeface="Calibri" pitchFamily="34" charset="-122"/>
                <a:cs typeface="Calibri" pitchFamily="34" charset="-120"/>
              </a:rPr>
              <a:t>archivos locales</a:t>
            </a:r>
            <a:endParaRPr lang="en-US" sz="1200" dirty="0"/>
          </a:p>
        </p:txBody>
      </p:sp>
      <p:pic>
        <p:nvPicPr>
          <p:cNvPr id="15" name="Image 2" descr="preencoded.png"/>
          <p:cNvPicPr>
            <a:picLocks noChangeAspect="1"/>
          </p:cNvPicPr>
          <p:nvPr/>
        </p:nvPicPr>
        <p:blipFill>
          <a:blip r:embed="rId5"/>
          <a:stretch>
            <a:fillRect/>
          </a:stretch>
        </p:blipFill>
        <p:spPr>
          <a:xfrm>
            <a:off x="5943600" y="2286000"/>
            <a:ext cx="384048" cy="384048"/>
          </a:xfrm>
          <a:prstGeom prst="rect">
            <a:avLst/>
          </a:prstGeom>
        </p:spPr>
      </p:pic>
      <p:pic>
        <p:nvPicPr>
          <p:cNvPr id="16" name="Image 3" descr="preencoded.png"/>
          <p:cNvPicPr>
            <a:picLocks noChangeAspect="1"/>
          </p:cNvPicPr>
          <p:nvPr/>
        </p:nvPicPr>
        <p:blipFill>
          <a:blip r:embed="rId5"/>
          <a:stretch>
            <a:fillRect/>
          </a:stretch>
        </p:blipFill>
        <p:spPr>
          <a:xfrm>
            <a:off x="6583680" y="2286000"/>
            <a:ext cx="384048" cy="384048"/>
          </a:xfrm>
          <a:prstGeom prst="rect">
            <a:avLst/>
          </a:prstGeom>
        </p:spPr>
      </p:pic>
      <p:pic>
        <p:nvPicPr>
          <p:cNvPr id="17" name="Image 4" descr="preencoded.png"/>
          <p:cNvPicPr>
            <a:picLocks noChangeAspect="1"/>
          </p:cNvPicPr>
          <p:nvPr/>
        </p:nvPicPr>
        <p:blipFill>
          <a:blip r:embed="rId5"/>
          <a:stretch>
            <a:fillRect/>
          </a:stretch>
        </p:blipFill>
        <p:spPr>
          <a:xfrm>
            <a:off x="7223760" y="2286000"/>
            <a:ext cx="384048" cy="384048"/>
          </a:xfrm>
          <a:prstGeom prst="rect">
            <a:avLst/>
          </a:prstGeom>
        </p:spPr>
      </p:pic>
      <p:pic>
        <p:nvPicPr>
          <p:cNvPr id="18" name="Image 5" descr="preencoded.png"/>
          <p:cNvPicPr>
            <a:picLocks noChangeAspect="1"/>
          </p:cNvPicPr>
          <p:nvPr/>
        </p:nvPicPr>
        <p:blipFill>
          <a:blip r:embed="rId5"/>
          <a:stretch>
            <a:fillRect/>
          </a:stretch>
        </p:blipFill>
        <p:spPr>
          <a:xfrm>
            <a:off x="7863840" y="2286000"/>
            <a:ext cx="384048" cy="384048"/>
          </a:xfrm>
          <a:prstGeom prst="rect">
            <a:avLst/>
          </a:prstGeom>
        </p:spPr>
      </p:pic>
      <p:sp>
        <p:nvSpPr>
          <p:cNvPr id="19" name="Shape 11"/>
          <p:cNvSpPr/>
          <p:nvPr/>
        </p:nvSpPr>
        <p:spPr>
          <a:xfrm>
            <a:off x="3474720" y="2057400"/>
            <a:ext cx="2194560" cy="0"/>
          </a:xfrm>
          <a:prstGeom prst="line">
            <a:avLst/>
          </a:prstGeom>
          <a:noFill/>
          <a:ln w="28575">
            <a:solidFill>
              <a:srgbClr val="0B1F3A"/>
            </a:solidFill>
            <a:prstDash val="dash"/>
          </a:ln>
        </p:spPr>
        <p:txBody>
          <a:bodyPr/>
          <a:lstStyle/>
          <a:p>
            <a:endParaRPr lang="es-MX"/>
          </a:p>
        </p:txBody>
      </p:sp>
      <p:sp>
        <p:nvSpPr>
          <p:cNvPr id="20" name="Shape 12"/>
          <p:cNvSpPr/>
          <p:nvPr/>
        </p:nvSpPr>
        <p:spPr>
          <a:xfrm>
            <a:off x="4251960" y="1737360"/>
            <a:ext cx="640080" cy="640080"/>
          </a:xfrm>
          <a:prstGeom prst="ellipse">
            <a:avLst/>
          </a:prstGeom>
          <a:solidFill>
            <a:srgbClr val="F5A524"/>
          </a:solidFill>
          <a:ln w="12700">
            <a:solidFill>
              <a:srgbClr val="F5A524"/>
            </a:solidFill>
            <a:prstDash val="solid"/>
          </a:ln>
        </p:spPr>
        <p:txBody>
          <a:bodyPr/>
          <a:lstStyle/>
          <a:p>
            <a:endParaRPr lang="es-MX"/>
          </a:p>
        </p:txBody>
      </p:sp>
      <p:pic>
        <p:nvPicPr>
          <p:cNvPr id="21" name="Image 6" descr="preencoded.png"/>
          <p:cNvPicPr>
            <a:picLocks noChangeAspect="1"/>
          </p:cNvPicPr>
          <p:nvPr/>
        </p:nvPicPr>
        <p:blipFill>
          <a:blip r:embed="rId6"/>
          <a:stretch>
            <a:fillRect/>
          </a:stretch>
        </p:blipFill>
        <p:spPr>
          <a:xfrm>
            <a:off x="4437583" y="1922983"/>
            <a:ext cx="268834" cy="268834"/>
          </a:xfrm>
          <a:prstGeom prst="rect">
            <a:avLst/>
          </a:prstGeom>
        </p:spPr>
      </p:pic>
      <p:sp>
        <p:nvSpPr>
          <p:cNvPr id="22" name="Text 13"/>
          <p:cNvSpPr txBox="1"/>
          <p:nvPr/>
        </p:nvSpPr>
        <p:spPr>
          <a:xfrm>
            <a:off x="3931920" y="2450592"/>
            <a:ext cx="1280160" cy="274320"/>
          </a:xfrm>
          <a:prstGeom prst="rect">
            <a:avLst/>
          </a:prstGeom>
          <a:noFill/>
          <a:ln/>
        </p:spPr>
        <p:txBody>
          <a:bodyPr wrap="square" lIns="0" tIns="0" rIns="0" bIns="0" rtlCol="0" anchor="ctr"/>
          <a:lstStyle/>
          <a:p>
            <a:pPr marL="0" indent="0" algn="ctr">
              <a:buNone/>
            </a:pPr>
            <a:r>
              <a:rPr lang="en-US" sz="1200" dirty="0">
                <a:solidFill>
                  <a:srgbClr val="5B6B82"/>
                </a:solidFill>
                <a:latin typeface="Calibri" pitchFamily="34" charset="0"/>
                <a:ea typeface="Calibri" pitchFamily="34" charset="-122"/>
                <a:cs typeface="Calibri" pitchFamily="34" charset="-120"/>
              </a:rPr>
              <a:t>sin canal</a:t>
            </a:r>
            <a:endParaRPr lang="en-US" sz="1200" dirty="0"/>
          </a:p>
        </p:txBody>
      </p:sp>
      <p:sp>
        <p:nvSpPr>
          <p:cNvPr id="23" name="Shape 14"/>
          <p:cNvSpPr/>
          <p:nvPr/>
        </p:nvSpPr>
        <p:spPr>
          <a:xfrm>
            <a:off x="457200" y="3200400"/>
            <a:ext cx="3931920" cy="1371600"/>
          </a:xfrm>
          <a:prstGeom prst="roundRect">
            <a:avLst>
              <a:gd name="adj" fmla="val 8000"/>
            </a:avLst>
          </a:prstGeom>
          <a:solidFill>
            <a:srgbClr val="FFFFFF"/>
          </a:solidFill>
          <a:ln w="9525">
            <a:solidFill>
              <a:srgbClr val="D5DEEA"/>
            </a:solidFill>
            <a:prstDash val="solid"/>
          </a:ln>
          <a:effectLst>
            <a:outerShdw blurRad="101600" dist="25400" dir="5400000" algn="bl" rotWithShape="0">
              <a:srgbClr val="0B1F3A">
                <a:alpha val="12000"/>
              </a:srgbClr>
            </a:outerShdw>
          </a:effectLst>
        </p:spPr>
        <p:txBody>
          <a:bodyPr/>
          <a:lstStyle/>
          <a:p>
            <a:endParaRPr lang="es-MX"/>
          </a:p>
        </p:txBody>
      </p:sp>
      <p:sp>
        <p:nvSpPr>
          <p:cNvPr id="24" name="Shape 15"/>
          <p:cNvSpPr/>
          <p:nvPr/>
        </p:nvSpPr>
        <p:spPr>
          <a:xfrm>
            <a:off x="685800" y="3429000"/>
            <a:ext cx="548640" cy="548640"/>
          </a:xfrm>
          <a:prstGeom prst="ellipse">
            <a:avLst/>
          </a:prstGeom>
          <a:solidFill>
            <a:srgbClr val="0B1F3A"/>
          </a:solidFill>
          <a:ln w="12700">
            <a:solidFill>
              <a:srgbClr val="0B1F3A"/>
            </a:solidFill>
            <a:prstDash val="solid"/>
          </a:ln>
        </p:spPr>
        <p:txBody>
          <a:bodyPr/>
          <a:lstStyle/>
          <a:p>
            <a:endParaRPr lang="es-MX"/>
          </a:p>
        </p:txBody>
      </p:sp>
      <p:pic>
        <p:nvPicPr>
          <p:cNvPr id="25" name="Image 7" descr="preencoded.png"/>
          <p:cNvPicPr>
            <a:picLocks noChangeAspect="1"/>
          </p:cNvPicPr>
          <p:nvPr/>
        </p:nvPicPr>
        <p:blipFill>
          <a:blip r:embed="rId7"/>
          <a:stretch>
            <a:fillRect/>
          </a:stretch>
        </p:blipFill>
        <p:spPr>
          <a:xfrm>
            <a:off x="822960" y="3566160"/>
            <a:ext cx="274320" cy="274320"/>
          </a:xfrm>
          <a:prstGeom prst="rect">
            <a:avLst/>
          </a:prstGeom>
        </p:spPr>
      </p:pic>
      <p:sp>
        <p:nvSpPr>
          <p:cNvPr id="26" name="Text 16"/>
          <p:cNvSpPr txBox="1"/>
          <p:nvPr/>
        </p:nvSpPr>
        <p:spPr>
          <a:xfrm>
            <a:off x="1417320" y="3364992"/>
            <a:ext cx="2834640" cy="411480"/>
          </a:xfrm>
          <a:prstGeom prst="rect">
            <a:avLst/>
          </a:prstGeom>
          <a:noFill/>
          <a:ln/>
        </p:spPr>
        <p:txBody>
          <a:bodyPr wrap="square" lIns="0" tIns="0" rIns="0" bIns="0" rtlCol="0" anchor="ctr"/>
          <a:lstStyle/>
          <a:p>
            <a:pPr marL="0" indent="0">
              <a:buNone/>
            </a:pPr>
            <a:r>
              <a:rPr lang="en-US" sz="1700" b="1" dirty="0">
                <a:solidFill>
                  <a:srgbClr val="0B1F3A"/>
                </a:solidFill>
                <a:latin typeface="Calibri" pitchFamily="34" charset="0"/>
                <a:ea typeface="Calibri" pitchFamily="34" charset="-122"/>
                <a:cs typeface="Calibri" pitchFamily="34" charset="-120"/>
              </a:rPr>
              <a:t>1 · Arquitectura</a:t>
            </a:r>
            <a:endParaRPr lang="en-US" sz="1700" dirty="0"/>
          </a:p>
        </p:txBody>
      </p:sp>
      <p:sp>
        <p:nvSpPr>
          <p:cNvPr id="27" name="Text 17"/>
          <p:cNvSpPr txBox="1"/>
          <p:nvPr/>
        </p:nvSpPr>
        <p:spPr>
          <a:xfrm>
            <a:off x="1417320" y="3794760"/>
            <a:ext cx="2834640" cy="256032"/>
          </a:xfrm>
          <a:prstGeom prst="rect">
            <a:avLst/>
          </a:prstGeom>
          <a:noFill/>
          <a:ln/>
        </p:spPr>
        <p:txBody>
          <a:bodyPr wrap="square" lIns="0" tIns="0" rIns="0" bIns="0" rtlCol="0" anchor="ctr"/>
          <a:lstStyle/>
          <a:p>
            <a:pPr marL="0" indent="0">
              <a:buNone/>
            </a:pPr>
            <a:r>
              <a:rPr lang="en-US" sz="1300" dirty="0">
                <a:solidFill>
                  <a:srgbClr val="5B6B82"/>
                </a:solidFill>
                <a:latin typeface="Calibri" pitchFamily="34" charset="0"/>
                <a:ea typeface="Calibri" pitchFamily="34" charset="-122"/>
                <a:cs typeface="Calibri" pitchFamily="34" charset="-120"/>
              </a:rPr>
              <a:t>Modelo remoto</a:t>
            </a:r>
            <a:endParaRPr lang="en-US" sz="1300" dirty="0"/>
          </a:p>
        </p:txBody>
      </p:sp>
      <p:sp>
        <p:nvSpPr>
          <p:cNvPr id="28" name="Text 18"/>
          <p:cNvSpPr txBox="1"/>
          <p:nvPr/>
        </p:nvSpPr>
        <p:spPr>
          <a:xfrm>
            <a:off x="1417320" y="4050792"/>
            <a:ext cx="2834640" cy="256032"/>
          </a:xfrm>
          <a:prstGeom prst="rect">
            <a:avLst/>
          </a:prstGeom>
          <a:noFill/>
          <a:ln/>
        </p:spPr>
        <p:txBody>
          <a:bodyPr wrap="square" lIns="0" tIns="0" rIns="0" bIns="0" rtlCol="0" anchor="ctr"/>
          <a:lstStyle/>
          <a:p>
            <a:pPr marL="0" indent="0">
              <a:buNone/>
            </a:pPr>
            <a:r>
              <a:rPr lang="en-US" sz="1300" dirty="0">
                <a:solidFill>
                  <a:srgbClr val="5B6B82"/>
                </a:solidFill>
                <a:latin typeface="Calibri" pitchFamily="34" charset="0"/>
                <a:ea typeface="Calibri" pitchFamily="34" charset="-122"/>
                <a:cs typeface="Calibri" pitchFamily="34" charset="-120"/>
              </a:rPr>
              <a:t>Sin canal de red al disco</a:t>
            </a:r>
            <a:endParaRPr lang="en-US" sz="1300" dirty="0"/>
          </a:p>
        </p:txBody>
      </p:sp>
      <p:sp>
        <p:nvSpPr>
          <p:cNvPr id="29" name="Shape 19"/>
          <p:cNvSpPr/>
          <p:nvPr/>
        </p:nvSpPr>
        <p:spPr>
          <a:xfrm>
            <a:off x="4754880" y="3200400"/>
            <a:ext cx="3931920" cy="1371600"/>
          </a:xfrm>
          <a:prstGeom prst="roundRect">
            <a:avLst>
              <a:gd name="adj" fmla="val 8000"/>
            </a:avLst>
          </a:prstGeom>
          <a:solidFill>
            <a:srgbClr val="FFFFFF"/>
          </a:solidFill>
          <a:ln w="9525">
            <a:solidFill>
              <a:srgbClr val="D5DEEA"/>
            </a:solidFill>
            <a:prstDash val="solid"/>
          </a:ln>
          <a:effectLst>
            <a:outerShdw blurRad="101600" dist="25400" dir="5400000" algn="bl" rotWithShape="0">
              <a:srgbClr val="0B1F3A">
                <a:alpha val="12000"/>
              </a:srgbClr>
            </a:outerShdw>
          </a:effectLst>
        </p:spPr>
        <p:txBody>
          <a:bodyPr/>
          <a:lstStyle/>
          <a:p>
            <a:endParaRPr lang="es-MX"/>
          </a:p>
        </p:txBody>
      </p:sp>
      <p:sp>
        <p:nvSpPr>
          <p:cNvPr id="30" name="Shape 20"/>
          <p:cNvSpPr/>
          <p:nvPr/>
        </p:nvSpPr>
        <p:spPr>
          <a:xfrm>
            <a:off x="4983480" y="3429000"/>
            <a:ext cx="548640" cy="548640"/>
          </a:xfrm>
          <a:prstGeom prst="ellipse">
            <a:avLst/>
          </a:prstGeom>
          <a:solidFill>
            <a:srgbClr val="0B1F3A"/>
          </a:solidFill>
          <a:ln w="12700">
            <a:solidFill>
              <a:srgbClr val="0B1F3A"/>
            </a:solidFill>
            <a:prstDash val="solid"/>
          </a:ln>
        </p:spPr>
        <p:txBody>
          <a:bodyPr/>
          <a:lstStyle/>
          <a:p>
            <a:endParaRPr lang="es-MX"/>
          </a:p>
        </p:txBody>
      </p:sp>
      <p:pic>
        <p:nvPicPr>
          <p:cNvPr id="31" name="Image 8" descr="preencoded.png"/>
          <p:cNvPicPr>
            <a:picLocks noChangeAspect="1"/>
          </p:cNvPicPr>
          <p:nvPr/>
        </p:nvPicPr>
        <p:blipFill>
          <a:blip r:embed="rId8"/>
          <a:stretch>
            <a:fillRect/>
          </a:stretch>
        </p:blipFill>
        <p:spPr>
          <a:xfrm>
            <a:off x="5120640" y="3566160"/>
            <a:ext cx="274320" cy="274320"/>
          </a:xfrm>
          <a:prstGeom prst="rect">
            <a:avLst/>
          </a:prstGeom>
        </p:spPr>
      </p:pic>
      <p:sp>
        <p:nvSpPr>
          <p:cNvPr id="32" name="Text 21"/>
          <p:cNvSpPr txBox="1"/>
          <p:nvPr/>
        </p:nvSpPr>
        <p:spPr>
          <a:xfrm>
            <a:off x="5715000" y="3319272"/>
            <a:ext cx="2834640" cy="384048"/>
          </a:xfrm>
          <a:prstGeom prst="rect">
            <a:avLst/>
          </a:prstGeom>
          <a:noFill/>
          <a:ln/>
        </p:spPr>
        <p:txBody>
          <a:bodyPr wrap="square" lIns="0" tIns="0" rIns="0" bIns="0" rtlCol="0" anchor="ctr"/>
          <a:lstStyle/>
          <a:p>
            <a:pPr marL="0" indent="0">
              <a:buNone/>
            </a:pPr>
            <a:r>
              <a:rPr lang="en-US" sz="1700" b="1" dirty="0">
                <a:solidFill>
                  <a:srgbClr val="0B1F3A"/>
                </a:solidFill>
                <a:latin typeface="Calibri" pitchFamily="34" charset="0"/>
                <a:ea typeface="Calibri" pitchFamily="34" charset="-122"/>
                <a:cs typeface="Calibri" pitchFamily="34" charset="-120"/>
              </a:rPr>
              <a:t>2 · Seguridad</a:t>
            </a:r>
            <a:endParaRPr lang="en-US" sz="1700" dirty="0"/>
          </a:p>
        </p:txBody>
      </p:sp>
      <p:sp>
        <p:nvSpPr>
          <p:cNvPr id="33" name="Text 22"/>
          <p:cNvSpPr txBox="1"/>
          <p:nvPr/>
        </p:nvSpPr>
        <p:spPr>
          <a:xfrm>
            <a:off x="5715000" y="3703320"/>
            <a:ext cx="2834640" cy="237744"/>
          </a:xfrm>
          <a:prstGeom prst="rect">
            <a:avLst/>
          </a:prstGeom>
          <a:noFill/>
          <a:ln/>
        </p:spPr>
        <p:txBody>
          <a:bodyPr wrap="square" lIns="0" tIns="0" rIns="0" bIns="0" rtlCol="0" anchor="ctr"/>
          <a:lstStyle/>
          <a:p>
            <a:pPr marL="0" indent="0">
              <a:buNone/>
            </a:pPr>
            <a:r>
              <a:rPr lang="en-US" sz="1300" dirty="0">
                <a:solidFill>
                  <a:srgbClr val="5B6B82"/>
                </a:solidFill>
                <a:latin typeface="Calibri" pitchFamily="34" charset="0"/>
                <a:ea typeface="Calibri" pitchFamily="34" charset="-122"/>
                <a:cs typeface="Calibri" pitchFamily="34" charset="-120"/>
              </a:rPr>
              <a:t>Aislamiento por diseño</a:t>
            </a:r>
            <a:endParaRPr lang="en-US" sz="1300" dirty="0"/>
          </a:p>
        </p:txBody>
      </p:sp>
      <p:sp>
        <p:nvSpPr>
          <p:cNvPr id="34" name="Text 23"/>
          <p:cNvSpPr txBox="1"/>
          <p:nvPr/>
        </p:nvSpPr>
        <p:spPr>
          <a:xfrm>
            <a:off x="5715000" y="3941064"/>
            <a:ext cx="2834640" cy="237744"/>
          </a:xfrm>
          <a:prstGeom prst="rect">
            <a:avLst/>
          </a:prstGeom>
          <a:noFill/>
          <a:ln/>
        </p:spPr>
        <p:txBody>
          <a:bodyPr wrap="square" lIns="0" tIns="0" rIns="0" bIns="0" rtlCol="0" anchor="ctr"/>
          <a:lstStyle/>
          <a:p>
            <a:pPr marL="0" indent="0">
              <a:buNone/>
            </a:pPr>
            <a:r>
              <a:rPr lang="en-US" sz="1300" dirty="0">
                <a:solidFill>
                  <a:srgbClr val="5B6B82"/>
                </a:solidFill>
                <a:latin typeface="Calibri" pitchFamily="34" charset="0"/>
                <a:ea typeface="Calibri" pitchFamily="34" charset="-122"/>
                <a:cs typeface="Calibri" pitchFamily="34" charset="-120"/>
              </a:rPr>
              <a:t>Consentimiento del usuario</a:t>
            </a:r>
            <a:endParaRPr lang="en-US" sz="1300" dirty="0"/>
          </a:p>
        </p:txBody>
      </p:sp>
      <p:sp>
        <p:nvSpPr>
          <p:cNvPr id="35" name="Text 24"/>
          <p:cNvSpPr txBox="1"/>
          <p:nvPr/>
        </p:nvSpPr>
        <p:spPr>
          <a:xfrm>
            <a:off x="5715000" y="4178808"/>
            <a:ext cx="2834640" cy="237744"/>
          </a:xfrm>
          <a:prstGeom prst="rect">
            <a:avLst/>
          </a:prstGeom>
          <a:noFill/>
          <a:ln/>
        </p:spPr>
        <p:txBody>
          <a:bodyPr wrap="square" lIns="0" tIns="0" rIns="0" bIns="0" rtlCol="0" anchor="ctr"/>
          <a:lstStyle/>
          <a:p>
            <a:pPr marL="0" indent="0">
              <a:buNone/>
            </a:pPr>
            <a:r>
              <a:rPr lang="en-US" sz="1300" dirty="0">
                <a:solidFill>
                  <a:srgbClr val="5B6B82"/>
                </a:solidFill>
                <a:latin typeface="Calibri" pitchFamily="34" charset="0"/>
                <a:ea typeface="Calibri" pitchFamily="34" charset="-122"/>
                <a:cs typeface="Calibri" pitchFamily="34" charset="-120"/>
              </a:rPr>
              <a:t>Riesgo de inyección de instrucciones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8FC"/>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marL="0" indent="0">
              <a:buNone/>
            </a:pPr>
            <a:r>
              <a:rPr lang="en-US" sz="3000" b="1" dirty="0">
                <a:solidFill>
                  <a:srgbClr val="0B1F3A"/>
                </a:solidFill>
                <a:latin typeface="Cambria" pitchFamily="34" charset="0"/>
                <a:ea typeface="Cambria" pitchFamily="34" charset="-122"/>
                <a:cs typeface="Cambria" pitchFamily="34" charset="-120"/>
              </a:rPr>
              <a:t>MCP frente a una API</a:t>
            </a:r>
            <a:endParaRPr lang="en-US" sz="3000" dirty="0"/>
          </a:p>
        </p:txBody>
      </p:sp>
      <p:sp>
        <p:nvSpPr>
          <p:cNvPr id="3" name="Shape 1"/>
          <p:cNvSpPr/>
          <p:nvPr/>
        </p:nvSpPr>
        <p:spPr>
          <a:xfrm>
            <a:off x="457200" y="1188720"/>
            <a:ext cx="3931920" cy="2560320"/>
          </a:xfrm>
          <a:prstGeom prst="roundRect">
            <a:avLst>
              <a:gd name="adj" fmla="val 4286"/>
            </a:avLst>
          </a:prstGeom>
          <a:solidFill>
            <a:srgbClr val="FFFFFF"/>
          </a:solidFill>
          <a:ln w="9525">
            <a:solidFill>
              <a:srgbClr val="D5DEEA"/>
            </a:solidFill>
            <a:prstDash val="solid"/>
          </a:ln>
          <a:effectLst>
            <a:outerShdw blurRad="101600" dist="25400" dir="5400000" algn="bl" rotWithShape="0">
              <a:srgbClr val="0B1F3A">
                <a:alpha val="12000"/>
              </a:srgbClr>
            </a:outerShdw>
          </a:effectLst>
        </p:spPr>
        <p:txBody>
          <a:bodyPr/>
          <a:lstStyle/>
          <a:p>
            <a:endParaRPr lang="es-MX"/>
          </a:p>
        </p:txBody>
      </p:sp>
      <p:sp>
        <p:nvSpPr>
          <p:cNvPr id="4" name="Shape 2"/>
          <p:cNvSpPr/>
          <p:nvPr/>
        </p:nvSpPr>
        <p:spPr>
          <a:xfrm>
            <a:off x="685800" y="1371600"/>
            <a:ext cx="457200" cy="457200"/>
          </a:xfrm>
          <a:prstGeom prst="ellipse">
            <a:avLst/>
          </a:prstGeom>
          <a:solidFill>
            <a:srgbClr val="0B1F3A"/>
          </a:solidFill>
          <a:ln w="12700">
            <a:solidFill>
              <a:srgbClr val="0B1F3A"/>
            </a:solidFill>
            <a:prstDash val="solid"/>
          </a:ln>
        </p:spPr>
        <p:txBody>
          <a:bodyPr/>
          <a:lstStyle/>
          <a:p>
            <a:endParaRPr lang="es-MX"/>
          </a:p>
        </p:txBody>
      </p:sp>
      <p:pic>
        <p:nvPicPr>
          <p:cNvPr id="5" name="Image 0" descr="preencoded.png"/>
          <p:cNvPicPr>
            <a:picLocks noChangeAspect="1"/>
          </p:cNvPicPr>
          <p:nvPr/>
        </p:nvPicPr>
        <p:blipFill>
          <a:blip r:embed="rId3"/>
          <a:stretch>
            <a:fillRect/>
          </a:stretch>
        </p:blipFill>
        <p:spPr>
          <a:xfrm>
            <a:off x="800100" y="1485900"/>
            <a:ext cx="228600" cy="228600"/>
          </a:xfrm>
          <a:prstGeom prst="rect">
            <a:avLst/>
          </a:prstGeom>
        </p:spPr>
      </p:pic>
      <p:sp>
        <p:nvSpPr>
          <p:cNvPr id="6" name="Text 3"/>
          <p:cNvSpPr txBox="1"/>
          <p:nvPr/>
        </p:nvSpPr>
        <p:spPr>
          <a:xfrm>
            <a:off x="1280160" y="1371600"/>
            <a:ext cx="2926080" cy="457200"/>
          </a:xfrm>
          <a:prstGeom prst="rect">
            <a:avLst/>
          </a:prstGeom>
          <a:noFill/>
          <a:ln/>
        </p:spPr>
        <p:txBody>
          <a:bodyPr wrap="square" lIns="0" tIns="0" rIns="0" bIns="0" rtlCol="0" anchor="ctr"/>
          <a:lstStyle/>
          <a:p>
            <a:pPr marL="0" indent="0">
              <a:buNone/>
            </a:pPr>
            <a:r>
              <a:rPr lang="en-US" sz="2000" b="1" dirty="0">
                <a:solidFill>
                  <a:srgbClr val="0B1F3A"/>
                </a:solidFill>
                <a:latin typeface="Cambria" pitchFamily="34" charset="0"/>
                <a:ea typeface="Cambria" pitchFamily="34" charset="-122"/>
                <a:cs typeface="Cambria" pitchFamily="34" charset="-120"/>
              </a:rPr>
              <a:t>API tradicional</a:t>
            </a:r>
            <a:endParaRPr lang="en-US" sz="2000" dirty="0"/>
          </a:p>
        </p:txBody>
      </p:sp>
      <p:sp>
        <p:nvSpPr>
          <p:cNvPr id="7" name="Shape 4"/>
          <p:cNvSpPr/>
          <p:nvPr/>
        </p:nvSpPr>
        <p:spPr>
          <a:xfrm>
            <a:off x="868680" y="2148840"/>
            <a:ext cx="685800" cy="685800"/>
          </a:xfrm>
          <a:prstGeom prst="ellipse">
            <a:avLst/>
          </a:prstGeom>
          <a:solidFill>
            <a:srgbClr val="EAF0F8"/>
          </a:solidFill>
          <a:ln w="12700">
            <a:solidFill>
              <a:srgbClr val="EAF0F8"/>
            </a:solidFill>
            <a:prstDash val="solid"/>
          </a:ln>
        </p:spPr>
        <p:txBody>
          <a:bodyPr/>
          <a:lstStyle/>
          <a:p>
            <a:endParaRPr lang="es-MX"/>
          </a:p>
        </p:txBody>
      </p:sp>
      <p:pic>
        <p:nvPicPr>
          <p:cNvPr id="8" name="Image 1" descr="preencoded.png"/>
          <p:cNvPicPr>
            <a:picLocks noChangeAspect="1"/>
          </p:cNvPicPr>
          <p:nvPr/>
        </p:nvPicPr>
        <p:blipFill>
          <a:blip r:embed="rId4"/>
          <a:stretch>
            <a:fillRect/>
          </a:stretch>
        </p:blipFill>
        <p:spPr>
          <a:xfrm>
            <a:off x="1057275" y="2337435"/>
            <a:ext cx="308610" cy="308610"/>
          </a:xfrm>
          <a:prstGeom prst="rect">
            <a:avLst/>
          </a:prstGeom>
        </p:spPr>
      </p:pic>
      <p:sp>
        <p:nvSpPr>
          <p:cNvPr id="9" name="Text 5"/>
          <p:cNvSpPr txBox="1"/>
          <p:nvPr/>
        </p:nvSpPr>
        <p:spPr>
          <a:xfrm>
            <a:off x="548640" y="2880360"/>
            <a:ext cx="1325880" cy="256032"/>
          </a:xfrm>
          <a:prstGeom prst="rect">
            <a:avLst/>
          </a:prstGeom>
          <a:noFill/>
          <a:ln/>
        </p:spPr>
        <p:txBody>
          <a:bodyPr wrap="square" lIns="0" tIns="0" rIns="0" bIns="0" rtlCol="0" anchor="ctr"/>
          <a:lstStyle/>
          <a:p>
            <a:pPr marL="0" indent="0" algn="ctr">
              <a:buNone/>
            </a:pPr>
            <a:r>
              <a:rPr lang="en-US" sz="1200" dirty="0">
                <a:solidFill>
                  <a:srgbClr val="5B6B82"/>
                </a:solidFill>
                <a:latin typeface="Calibri" pitchFamily="34" charset="0"/>
                <a:ea typeface="Calibri" pitchFamily="34" charset="-122"/>
                <a:cs typeface="Calibri" pitchFamily="34" charset="-120"/>
              </a:rPr>
              <a:t>Desarrollador</a:t>
            </a:r>
            <a:endParaRPr lang="en-US" sz="1200" dirty="0"/>
          </a:p>
        </p:txBody>
      </p:sp>
      <p:sp>
        <p:nvSpPr>
          <p:cNvPr id="10" name="Shape 6"/>
          <p:cNvSpPr/>
          <p:nvPr/>
        </p:nvSpPr>
        <p:spPr>
          <a:xfrm>
            <a:off x="1645920" y="2487168"/>
            <a:ext cx="1325880" cy="0"/>
          </a:xfrm>
          <a:prstGeom prst="line">
            <a:avLst/>
          </a:prstGeom>
          <a:noFill/>
          <a:ln w="28575">
            <a:solidFill>
              <a:srgbClr val="0B1F3A"/>
            </a:solidFill>
            <a:prstDash val="solid"/>
            <a:tailEnd type="triangle"/>
          </a:ln>
        </p:spPr>
        <p:txBody>
          <a:bodyPr/>
          <a:lstStyle/>
          <a:p>
            <a:endParaRPr lang="es-MX"/>
          </a:p>
        </p:txBody>
      </p:sp>
      <p:sp>
        <p:nvSpPr>
          <p:cNvPr id="11" name="Shape 7"/>
          <p:cNvSpPr/>
          <p:nvPr/>
        </p:nvSpPr>
        <p:spPr>
          <a:xfrm>
            <a:off x="3108960" y="2148840"/>
            <a:ext cx="685800" cy="685800"/>
          </a:xfrm>
          <a:prstGeom prst="ellipse">
            <a:avLst/>
          </a:prstGeom>
          <a:solidFill>
            <a:srgbClr val="EAF0F8"/>
          </a:solidFill>
          <a:ln w="12700">
            <a:solidFill>
              <a:srgbClr val="EAF0F8"/>
            </a:solidFill>
            <a:prstDash val="solid"/>
          </a:ln>
        </p:spPr>
        <p:txBody>
          <a:bodyPr/>
          <a:lstStyle/>
          <a:p>
            <a:endParaRPr lang="es-MX"/>
          </a:p>
        </p:txBody>
      </p:sp>
      <p:pic>
        <p:nvPicPr>
          <p:cNvPr id="12" name="Image 2" descr="preencoded.png"/>
          <p:cNvPicPr>
            <a:picLocks noChangeAspect="1"/>
          </p:cNvPicPr>
          <p:nvPr/>
        </p:nvPicPr>
        <p:blipFill>
          <a:blip r:embed="rId5"/>
          <a:stretch>
            <a:fillRect/>
          </a:stretch>
        </p:blipFill>
        <p:spPr>
          <a:xfrm>
            <a:off x="3297555" y="2337435"/>
            <a:ext cx="308610" cy="308610"/>
          </a:xfrm>
          <a:prstGeom prst="rect">
            <a:avLst/>
          </a:prstGeom>
        </p:spPr>
      </p:pic>
      <p:sp>
        <p:nvSpPr>
          <p:cNvPr id="13" name="Text 8"/>
          <p:cNvSpPr txBox="1"/>
          <p:nvPr/>
        </p:nvSpPr>
        <p:spPr>
          <a:xfrm>
            <a:off x="2834640" y="2880360"/>
            <a:ext cx="1234440" cy="256032"/>
          </a:xfrm>
          <a:prstGeom prst="rect">
            <a:avLst/>
          </a:prstGeom>
          <a:noFill/>
          <a:ln/>
        </p:spPr>
        <p:txBody>
          <a:bodyPr wrap="square" lIns="0" tIns="0" rIns="0" bIns="0" rtlCol="0" anchor="ctr"/>
          <a:lstStyle/>
          <a:p>
            <a:pPr marL="0" indent="0" algn="ctr">
              <a:buNone/>
            </a:pPr>
            <a:r>
              <a:rPr lang="en-US" sz="1200" dirty="0">
                <a:solidFill>
                  <a:srgbClr val="5B6B82"/>
                </a:solidFill>
                <a:latin typeface="Calibri" pitchFamily="34" charset="0"/>
                <a:ea typeface="Calibri" pitchFamily="34" charset="-122"/>
                <a:cs typeface="Calibri" pitchFamily="34" charset="-120"/>
              </a:rPr>
              <a:t>Endpoint fijo</a:t>
            </a:r>
            <a:endParaRPr lang="en-US" sz="1200" dirty="0"/>
          </a:p>
        </p:txBody>
      </p:sp>
      <p:sp>
        <p:nvSpPr>
          <p:cNvPr id="14" name="Shape 9"/>
          <p:cNvSpPr/>
          <p:nvPr/>
        </p:nvSpPr>
        <p:spPr>
          <a:xfrm>
            <a:off x="777240" y="3246120"/>
            <a:ext cx="3291840" cy="384048"/>
          </a:xfrm>
          <a:prstGeom prst="roundRect">
            <a:avLst>
              <a:gd name="adj" fmla="val 50000"/>
            </a:avLst>
          </a:prstGeom>
          <a:solidFill>
            <a:srgbClr val="EAF0F8"/>
          </a:solidFill>
          <a:ln w="12700">
            <a:solidFill>
              <a:srgbClr val="EAF0F8"/>
            </a:solidFill>
            <a:prstDash val="solid"/>
          </a:ln>
        </p:spPr>
        <p:txBody>
          <a:bodyPr/>
          <a:lstStyle/>
          <a:p>
            <a:endParaRPr lang="es-MX"/>
          </a:p>
        </p:txBody>
      </p:sp>
      <p:sp>
        <p:nvSpPr>
          <p:cNvPr id="15" name="Text 10"/>
          <p:cNvSpPr txBox="1"/>
          <p:nvPr/>
        </p:nvSpPr>
        <p:spPr>
          <a:xfrm>
            <a:off x="777240" y="3246120"/>
            <a:ext cx="3291840" cy="384048"/>
          </a:xfrm>
          <a:prstGeom prst="rect">
            <a:avLst/>
          </a:prstGeom>
          <a:noFill/>
          <a:ln/>
        </p:spPr>
        <p:txBody>
          <a:bodyPr wrap="square" lIns="0" tIns="0" rIns="0" bIns="0" rtlCol="0" anchor="ctr"/>
          <a:lstStyle/>
          <a:p>
            <a:pPr marL="0" indent="0" algn="ctr">
              <a:buNone/>
            </a:pPr>
            <a:r>
              <a:rPr lang="en-US" sz="1300" b="1" dirty="0">
                <a:solidFill>
                  <a:srgbClr val="0B1F3A"/>
                </a:solidFill>
                <a:latin typeface="Calibri" pitchFamily="34" charset="0"/>
                <a:ea typeface="Calibri" pitchFamily="34" charset="-122"/>
                <a:cs typeface="Calibri" pitchFamily="34" charset="-120"/>
              </a:rPr>
              <a:t>Decidido de antemano</a:t>
            </a:r>
            <a:endParaRPr lang="en-US" sz="1300" dirty="0"/>
          </a:p>
        </p:txBody>
      </p:sp>
      <p:sp>
        <p:nvSpPr>
          <p:cNvPr id="16" name="Shape 11"/>
          <p:cNvSpPr/>
          <p:nvPr/>
        </p:nvSpPr>
        <p:spPr>
          <a:xfrm>
            <a:off x="4754880" y="1188720"/>
            <a:ext cx="3931920" cy="2560320"/>
          </a:xfrm>
          <a:prstGeom prst="roundRect">
            <a:avLst>
              <a:gd name="adj" fmla="val 4286"/>
            </a:avLst>
          </a:prstGeom>
          <a:solidFill>
            <a:srgbClr val="0B1F3A"/>
          </a:solidFill>
          <a:ln w="9525">
            <a:solidFill>
              <a:srgbClr val="0B1F3A"/>
            </a:solidFill>
            <a:prstDash val="solid"/>
          </a:ln>
          <a:effectLst>
            <a:outerShdw blurRad="101600" dist="25400" dir="5400000" algn="bl" rotWithShape="0">
              <a:srgbClr val="0B1F3A">
                <a:alpha val="12000"/>
              </a:srgbClr>
            </a:outerShdw>
          </a:effectLst>
        </p:spPr>
        <p:txBody>
          <a:bodyPr/>
          <a:lstStyle/>
          <a:p>
            <a:endParaRPr lang="es-MX"/>
          </a:p>
        </p:txBody>
      </p:sp>
      <p:sp>
        <p:nvSpPr>
          <p:cNvPr id="17" name="Shape 12"/>
          <p:cNvSpPr/>
          <p:nvPr/>
        </p:nvSpPr>
        <p:spPr>
          <a:xfrm>
            <a:off x="4983480" y="1371600"/>
            <a:ext cx="457200" cy="457200"/>
          </a:xfrm>
          <a:prstGeom prst="ellipse">
            <a:avLst/>
          </a:prstGeom>
          <a:solidFill>
            <a:srgbClr val="F5A524"/>
          </a:solidFill>
          <a:ln w="12700">
            <a:solidFill>
              <a:srgbClr val="F5A524"/>
            </a:solidFill>
            <a:prstDash val="solid"/>
          </a:ln>
        </p:spPr>
        <p:txBody>
          <a:bodyPr/>
          <a:lstStyle/>
          <a:p>
            <a:endParaRPr lang="es-MX"/>
          </a:p>
        </p:txBody>
      </p:sp>
      <p:pic>
        <p:nvPicPr>
          <p:cNvPr id="18" name="Image 3" descr="preencoded.png"/>
          <p:cNvPicPr>
            <a:picLocks noChangeAspect="1"/>
          </p:cNvPicPr>
          <p:nvPr/>
        </p:nvPicPr>
        <p:blipFill>
          <a:blip r:embed="rId6"/>
          <a:stretch>
            <a:fillRect/>
          </a:stretch>
        </p:blipFill>
        <p:spPr>
          <a:xfrm>
            <a:off x="5097780" y="1485900"/>
            <a:ext cx="228600" cy="228600"/>
          </a:xfrm>
          <a:prstGeom prst="rect">
            <a:avLst/>
          </a:prstGeom>
        </p:spPr>
      </p:pic>
      <p:sp>
        <p:nvSpPr>
          <p:cNvPr id="19" name="Text 13"/>
          <p:cNvSpPr txBox="1"/>
          <p:nvPr/>
        </p:nvSpPr>
        <p:spPr>
          <a:xfrm>
            <a:off x="5577840" y="1371600"/>
            <a:ext cx="2743200" cy="457200"/>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MCP</a:t>
            </a:r>
            <a:endParaRPr lang="en-US" sz="2000" dirty="0"/>
          </a:p>
        </p:txBody>
      </p:sp>
      <p:sp>
        <p:nvSpPr>
          <p:cNvPr id="20" name="Shape 14"/>
          <p:cNvSpPr/>
          <p:nvPr/>
        </p:nvSpPr>
        <p:spPr>
          <a:xfrm>
            <a:off x="4983480" y="2148840"/>
            <a:ext cx="640080" cy="640080"/>
          </a:xfrm>
          <a:prstGeom prst="ellipse">
            <a:avLst/>
          </a:prstGeom>
          <a:solidFill>
            <a:srgbClr val="16345F"/>
          </a:solidFill>
          <a:ln w="12700">
            <a:solidFill>
              <a:srgbClr val="16345F"/>
            </a:solidFill>
            <a:prstDash val="solid"/>
          </a:ln>
        </p:spPr>
        <p:txBody>
          <a:bodyPr/>
          <a:lstStyle/>
          <a:p>
            <a:endParaRPr lang="es-MX"/>
          </a:p>
        </p:txBody>
      </p:sp>
      <p:pic>
        <p:nvPicPr>
          <p:cNvPr id="21" name="Image 4" descr="preencoded.png"/>
          <p:cNvPicPr>
            <a:picLocks noChangeAspect="1"/>
          </p:cNvPicPr>
          <p:nvPr/>
        </p:nvPicPr>
        <p:blipFill>
          <a:blip r:embed="rId7"/>
          <a:stretch>
            <a:fillRect/>
          </a:stretch>
        </p:blipFill>
        <p:spPr>
          <a:xfrm>
            <a:off x="5159502" y="2324862"/>
            <a:ext cx="288036" cy="288036"/>
          </a:xfrm>
          <a:prstGeom prst="rect">
            <a:avLst/>
          </a:prstGeom>
        </p:spPr>
      </p:pic>
      <p:sp>
        <p:nvSpPr>
          <p:cNvPr id="22" name="Text 15"/>
          <p:cNvSpPr txBox="1"/>
          <p:nvPr/>
        </p:nvSpPr>
        <p:spPr>
          <a:xfrm>
            <a:off x="4754880" y="2880360"/>
            <a:ext cx="1097280" cy="256032"/>
          </a:xfrm>
          <a:prstGeom prst="rect">
            <a:avLst/>
          </a:prstGeom>
          <a:noFill/>
          <a:ln/>
        </p:spPr>
        <p:txBody>
          <a:bodyPr wrap="square" lIns="0" tIns="0" rIns="0" bIns="0" rtlCol="0" anchor="ctr"/>
          <a:lstStyle/>
          <a:p>
            <a:pPr marL="0" indent="0" algn="ctr">
              <a:buNone/>
            </a:pPr>
            <a:r>
              <a:rPr lang="en-US" sz="1200" dirty="0">
                <a:solidFill>
                  <a:srgbClr val="CADCFC"/>
                </a:solidFill>
                <a:latin typeface="Calibri" pitchFamily="34" charset="0"/>
                <a:ea typeface="Calibri" pitchFamily="34" charset="-122"/>
                <a:cs typeface="Calibri" pitchFamily="34" charset="-120"/>
              </a:rPr>
              <a:t>Servidor</a:t>
            </a:r>
            <a:endParaRPr lang="en-US" sz="1200" dirty="0"/>
          </a:p>
        </p:txBody>
      </p:sp>
      <p:sp>
        <p:nvSpPr>
          <p:cNvPr id="23" name="Shape 16"/>
          <p:cNvSpPr/>
          <p:nvPr/>
        </p:nvSpPr>
        <p:spPr>
          <a:xfrm>
            <a:off x="5669280" y="2468880"/>
            <a:ext cx="320040" cy="0"/>
          </a:xfrm>
          <a:prstGeom prst="line">
            <a:avLst/>
          </a:prstGeom>
          <a:noFill/>
          <a:ln w="22225">
            <a:solidFill>
              <a:srgbClr val="CADCFC"/>
            </a:solidFill>
            <a:prstDash val="solid"/>
            <a:tailEnd type="triangle"/>
          </a:ln>
        </p:spPr>
        <p:txBody>
          <a:bodyPr/>
          <a:lstStyle/>
          <a:p>
            <a:endParaRPr lang="es-MX"/>
          </a:p>
        </p:txBody>
      </p:sp>
      <p:sp>
        <p:nvSpPr>
          <p:cNvPr id="24" name="Shape 17"/>
          <p:cNvSpPr/>
          <p:nvPr/>
        </p:nvSpPr>
        <p:spPr>
          <a:xfrm>
            <a:off x="6035040" y="2084832"/>
            <a:ext cx="658368" cy="329184"/>
          </a:xfrm>
          <a:prstGeom prst="roundRect">
            <a:avLst>
              <a:gd name="adj" fmla="val 50000"/>
            </a:avLst>
          </a:prstGeom>
          <a:solidFill>
            <a:srgbClr val="16345F"/>
          </a:solidFill>
          <a:ln w="12700">
            <a:solidFill>
              <a:srgbClr val="16345F"/>
            </a:solidFill>
            <a:prstDash val="solid"/>
          </a:ln>
        </p:spPr>
        <p:txBody>
          <a:bodyPr/>
          <a:lstStyle/>
          <a:p>
            <a:endParaRPr lang="es-MX"/>
          </a:p>
        </p:txBody>
      </p:sp>
      <p:sp>
        <p:nvSpPr>
          <p:cNvPr id="25" name="Text 18"/>
          <p:cNvSpPr txBox="1"/>
          <p:nvPr/>
        </p:nvSpPr>
        <p:spPr>
          <a:xfrm>
            <a:off x="6035040" y="2084832"/>
            <a:ext cx="658368"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listar</a:t>
            </a:r>
            <a:endParaRPr lang="en-US" sz="1100" dirty="0"/>
          </a:p>
        </p:txBody>
      </p:sp>
      <p:sp>
        <p:nvSpPr>
          <p:cNvPr id="26" name="Shape 19"/>
          <p:cNvSpPr/>
          <p:nvPr/>
        </p:nvSpPr>
        <p:spPr>
          <a:xfrm>
            <a:off x="6748272" y="2084832"/>
            <a:ext cx="658368" cy="329184"/>
          </a:xfrm>
          <a:prstGeom prst="roundRect">
            <a:avLst>
              <a:gd name="adj" fmla="val 50000"/>
            </a:avLst>
          </a:prstGeom>
          <a:solidFill>
            <a:srgbClr val="F5A524"/>
          </a:solidFill>
          <a:ln w="12700">
            <a:solidFill>
              <a:srgbClr val="F5A524"/>
            </a:solidFill>
            <a:prstDash val="solid"/>
          </a:ln>
        </p:spPr>
        <p:txBody>
          <a:bodyPr/>
          <a:lstStyle/>
          <a:p>
            <a:endParaRPr lang="es-MX"/>
          </a:p>
        </p:txBody>
      </p:sp>
      <p:sp>
        <p:nvSpPr>
          <p:cNvPr id="27" name="Text 20"/>
          <p:cNvSpPr txBox="1"/>
          <p:nvPr/>
        </p:nvSpPr>
        <p:spPr>
          <a:xfrm>
            <a:off x="6748272" y="2084832"/>
            <a:ext cx="658368" cy="329184"/>
          </a:xfrm>
          <a:prstGeom prst="rect">
            <a:avLst/>
          </a:prstGeom>
          <a:noFill/>
          <a:ln/>
        </p:spPr>
        <p:txBody>
          <a:bodyPr wrap="square" lIns="0" tIns="0" rIns="0" bIns="0" rtlCol="0" anchor="ctr"/>
          <a:lstStyle/>
          <a:p>
            <a:pPr marL="0" indent="0" algn="ctr">
              <a:buNone/>
            </a:pPr>
            <a:r>
              <a:rPr lang="en-US" sz="1100" b="1" dirty="0">
                <a:solidFill>
                  <a:srgbClr val="0B1F3A"/>
                </a:solidFill>
                <a:latin typeface="Calibri" pitchFamily="34" charset="0"/>
                <a:ea typeface="Calibri" pitchFamily="34" charset="-122"/>
                <a:cs typeface="Calibri" pitchFamily="34" charset="-120"/>
              </a:rPr>
              <a:t>leer</a:t>
            </a:r>
            <a:endParaRPr lang="en-US" sz="1100" dirty="0"/>
          </a:p>
        </p:txBody>
      </p:sp>
      <p:sp>
        <p:nvSpPr>
          <p:cNvPr id="28" name="Shape 21"/>
          <p:cNvSpPr/>
          <p:nvPr/>
        </p:nvSpPr>
        <p:spPr>
          <a:xfrm>
            <a:off x="6035040" y="2505456"/>
            <a:ext cx="658368" cy="329184"/>
          </a:xfrm>
          <a:prstGeom prst="roundRect">
            <a:avLst>
              <a:gd name="adj" fmla="val 50000"/>
            </a:avLst>
          </a:prstGeom>
          <a:solidFill>
            <a:srgbClr val="16345F"/>
          </a:solidFill>
          <a:ln w="12700">
            <a:solidFill>
              <a:srgbClr val="16345F"/>
            </a:solidFill>
            <a:prstDash val="solid"/>
          </a:ln>
        </p:spPr>
        <p:txBody>
          <a:bodyPr/>
          <a:lstStyle/>
          <a:p>
            <a:endParaRPr lang="es-MX"/>
          </a:p>
        </p:txBody>
      </p:sp>
      <p:sp>
        <p:nvSpPr>
          <p:cNvPr id="29" name="Text 22"/>
          <p:cNvSpPr txBox="1"/>
          <p:nvPr/>
        </p:nvSpPr>
        <p:spPr>
          <a:xfrm>
            <a:off x="6035040" y="2505456"/>
            <a:ext cx="658368"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escribir</a:t>
            </a:r>
            <a:endParaRPr lang="en-US" sz="1100" dirty="0"/>
          </a:p>
        </p:txBody>
      </p:sp>
      <p:sp>
        <p:nvSpPr>
          <p:cNvPr id="30" name="Shape 23"/>
          <p:cNvSpPr/>
          <p:nvPr/>
        </p:nvSpPr>
        <p:spPr>
          <a:xfrm>
            <a:off x="6748272" y="2505456"/>
            <a:ext cx="658368" cy="329184"/>
          </a:xfrm>
          <a:prstGeom prst="roundRect">
            <a:avLst>
              <a:gd name="adj" fmla="val 50000"/>
            </a:avLst>
          </a:prstGeom>
          <a:solidFill>
            <a:srgbClr val="16345F"/>
          </a:solidFill>
          <a:ln w="12700">
            <a:solidFill>
              <a:srgbClr val="16345F"/>
            </a:solidFill>
            <a:prstDash val="solid"/>
          </a:ln>
        </p:spPr>
        <p:txBody>
          <a:bodyPr/>
          <a:lstStyle/>
          <a:p>
            <a:endParaRPr lang="es-MX"/>
          </a:p>
        </p:txBody>
      </p:sp>
      <p:sp>
        <p:nvSpPr>
          <p:cNvPr id="31" name="Text 24"/>
          <p:cNvSpPr txBox="1"/>
          <p:nvPr/>
        </p:nvSpPr>
        <p:spPr>
          <a:xfrm>
            <a:off x="6748272" y="2505456"/>
            <a:ext cx="658368"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buscar</a:t>
            </a:r>
            <a:endParaRPr lang="en-US" sz="1100" dirty="0"/>
          </a:p>
        </p:txBody>
      </p:sp>
      <p:sp>
        <p:nvSpPr>
          <p:cNvPr id="32" name="Shape 25"/>
          <p:cNvSpPr/>
          <p:nvPr/>
        </p:nvSpPr>
        <p:spPr>
          <a:xfrm flipH="1">
            <a:off x="7543800" y="2468880"/>
            <a:ext cx="365760" cy="0"/>
          </a:xfrm>
          <a:prstGeom prst="line">
            <a:avLst/>
          </a:prstGeom>
          <a:noFill/>
          <a:ln w="22225">
            <a:solidFill>
              <a:srgbClr val="F5A524"/>
            </a:solidFill>
            <a:prstDash val="solid"/>
            <a:tailEnd type="triangle"/>
          </a:ln>
        </p:spPr>
        <p:txBody>
          <a:bodyPr/>
          <a:lstStyle/>
          <a:p>
            <a:endParaRPr lang="es-MX"/>
          </a:p>
        </p:txBody>
      </p:sp>
      <p:sp>
        <p:nvSpPr>
          <p:cNvPr id="33" name="Shape 26"/>
          <p:cNvSpPr/>
          <p:nvPr/>
        </p:nvSpPr>
        <p:spPr>
          <a:xfrm>
            <a:off x="7863840" y="2148840"/>
            <a:ext cx="640080" cy="640080"/>
          </a:xfrm>
          <a:prstGeom prst="ellipse">
            <a:avLst/>
          </a:prstGeom>
          <a:solidFill>
            <a:srgbClr val="16345F"/>
          </a:solidFill>
          <a:ln w="12700">
            <a:solidFill>
              <a:srgbClr val="16345F"/>
            </a:solidFill>
            <a:prstDash val="solid"/>
          </a:ln>
        </p:spPr>
        <p:txBody>
          <a:bodyPr/>
          <a:lstStyle/>
          <a:p>
            <a:endParaRPr lang="es-MX"/>
          </a:p>
        </p:txBody>
      </p:sp>
      <p:pic>
        <p:nvPicPr>
          <p:cNvPr id="34" name="Image 5" descr="preencoded.png"/>
          <p:cNvPicPr>
            <a:picLocks noChangeAspect="1"/>
          </p:cNvPicPr>
          <p:nvPr/>
        </p:nvPicPr>
        <p:blipFill>
          <a:blip r:embed="rId8"/>
          <a:stretch>
            <a:fillRect/>
          </a:stretch>
        </p:blipFill>
        <p:spPr>
          <a:xfrm>
            <a:off x="8039862" y="2324862"/>
            <a:ext cx="288036" cy="288036"/>
          </a:xfrm>
          <a:prstGeom prst="rect">
            <a:avLst/>
          </a:prstGeom>
        </p:spPr>
      </p:pic>
      <p:sp>
        <p:nvSpPr>
          <p:cNvPr id="35" name="Text 27"/>
          <p:cNvSpPr txBox="1"/>
          <p:nvPr/>
        </p:nvSpPr>
        <p:spPr>
          <a:xfrm>
            <a:off x="7635240" y="2880360"/>
            <a:ext cx="1097280" cy="256032"/>
          </a:xfrm>
          <a:prstGeom prst="rect">
            <a:avLst/>
          </a:prstGeom>
          <a:noFill/>
          <a:ln/>
        </p:spPr>
        <p:txBody>
          <a:bodyPr wrap="square" lIns="0" tIns="0" rIns="0" bIns="0" rtlCol="0" anchor="ctr"/>
          <a:lstStyle/>
          <a:p>
            <a:pPr marL="0" indent="0" algn="ctr">
              <a:buNone/>
            </a:pPr>
            <a:r>
              <a:rPr lang="en-US" sz="1200" dirty="0">
                <a:solidFill>
                  <a:srgbClr val="CADCFC"/>
                </a:solidFill>
                <a:latin typeface="Calibri" pitchFamily="34" charset="0"/>
                <a:ea typeface="Calibri" pitchFamily="34" charset="-122"/>
                <a:cs typeface="Calibri" pitchFamily="34" charset="-120"/>
              </a:rPr>
              <a:t>Modelo</a:t>
            </a:r>
            <a:endParaRPr lang="en-US" sz="1200" dirty="0"/>
          </a:p>
        </p:txBody>
      </p:sp>
      <p:sp>
        <p:nvSpPr>
          <p:cNvPr id="36" name="Shape 28"/>
          <p:cNvSpPr/>
          <p:nvPr/>
        </p:nvSpPr>
        <p:spPr>
          <a:xfrm>
            <a:off x="5074920" y="3246120"/>
            <a:ext cx="3291840" cy="384048"/>
          </a:xfrm>
          <a:prstGeom prst="roundRect">
            <a:avLst>
              <a:gd name="adj" fmla="val 50000"/>
            </a:avLst>
          </a:prstGeom>
          <a:solidFill>
            <a:srgbClr val="16345F"/>
          </a:solidFill>
          <a:ln w="12700">
            <a:solidFill>
              <a:srgbClr val="16345F"/>
            </a:solidFill>
            <a:prstDash val="solid"/>
          </a:ln>
        </p:spPr>
        <p:txBody>
          <a:bodyPr/>
          <a:lstStyle/>
          <a:p>
            <a:endParaRPr lang="es-MX"/>
          </a:p>
        </p:txBody>
      </p:sp>
      <p:sp>
        <p:nvSpPr>
          <p:cNvPr id="37" name="Text 29"/>
          <p:cNvSpPr txBox="1"/>
          <p:nvPr/>
        </p:nvSpPr>
        <p:spPr>
          <a:xfrm>
            <a:off x="5074920" y="3246120"/>
            <a:ext cx="3291840" cy="384048"/>
          </a:xfrm>
          <a:prstGeom prst="rect">
            <a:avLst/>
          </a:prstGeom>
          <a:noFill/>
          <a:ln/>
        </p:spPr>
        <p:txBody>
          <a:bodyPr wrap="square" lIns="0" tIns="0" rIns="0" bIns="0" rtlCol="0" anchor="ctr"/>
          <a:lstStyle/>
          <a:p>
            <a:pPr marL="0" indent="0" algn="ctr">
              <a:buNone/>
            </a:pPr>
            <a:r>
              <a:rPr lang="en-US" sz="1300" b="1" dirty="0">
                <a:solidFill>
                  <a:srgbClr val="F5A524"/>
                </a:solidFill>
                <a:latin typeface="Calibri" pitchFamily="34" charset="0"/>
                <a:ea typeface="Calibri" pitchFamily="34" charset="-122"/>
                <a:cs typeface="Calibri" pitchFamily="34" charset="-120"/>
              </a:rPr>
              <a:t>Decidido en tiempo real</a:t>
            </a:r>
            <a:endParaRPr lang="en-US" sz="1300" dirty="0"/>
          </a:p>
        </p:txBody>
      </p:sp>
      <p:sp>
        <p:nvSpPr>
          <p:cNvPr id="38" name="Shape 30"/>
          <p:cNvSpPr/>
          <p:nvPr/>
        </p:nvSpPr>
        <p:spPr>
          <a:xfrm>
            <a:off x="457200" y="4023360"/>
            <a:ext cx="3931920" cy="566928"/>
          </a:xfrm>
          <a:prstGeom prst="roundRect">
            <a:avLst>
              <a:gd name="adj" fmla="val 19355"/>
            </a:avLst>
          </a:prstGeom>
          <a:solidFill>
            <a:srgbClr val="FFFFFF"/>
          </a:solidFill>
          <a:ln w="9525">
            <a:solidFill>
              <a:srgbClr val="D5DEEA"/>
            </a:solidFill>
            <a:prstDash val="solid"/>
          </a:ln>
          <a:effectLst>
            <a:outerShdw blurRad="101600" dist="25400" dir="5400000" algn="bl" rotWithShape="0">
              <a:srgbClr val="0B1F3A">
                <a:alpha val="12000"/>
              </a:srgbClr>
            </a:outerShdw>
          </a:effectLst>
        </p:spPr>
        <p:txBody>
          <a:bodyPr/>
          <a:lstStyle/>
          <a:p>
            <a:endParaRPr lang="es-MX"/>
          </a:p>
        </p:txBody>
      </p:sp>
      <p:sp>
        <p:nvSpPr>
          <p:cNvPr id="39" name="Shape 31"/>
          <p:cNvSpPr/>
          <p:nvPr/>
        </p:nvSpPr>
        <p:spPr>
          <a:xfrm>
            <a:off x="594360" y="4123944"/>
            <a:ext cx="365760" cy="365760"/>
          </a:xfrm>
          <a:prstGeom prst="ellipse">
            <a:avLst/>
          </a:prstGeom>
          <a:solidFill>
            <a:srgbClr val="F5A524"/>
          </a:solidFill>
          <a:ln w="12700">
            <a:solidFill>
              <a:srgbClr val="F5A524"/>
            </a:solidFill>
            <a:prstDash val="solid"/>
          </a:ln>
        </p:spPr>
        <p:txBody>
          <a:bodyPr/>
          <a:lstStyle/>
          <a:p>
            <a:endParaRPr lang="es-MX"/>
          </a:p>
        </p:txBody>
      </p:sp>
      <p:pic>
        <p:nvPicPr>
          <p:cNvPr id="40" name="Image 6" descr="preencoded.png"/>
          <p:cNvPicPr>
            <a:picLocks noChangeAspect="1"/>
          </p:cNvPicPr>
          <p:nvPr/>
        </p:nvPicPr>
        <p:blipFill>
          <a:blip r:embed="rId9"/>
          <a:stretch>
            <a:fillRect/>
          </a:stretch>
        </p:blipFill>
        <p:spPr>
          <a:xfrm>
            <a:off x="685800" y="4215384"/>
            <a:ext cx="182880" cy="182880"/>
          </a:xfrm>
          <a:prstGeom prst="rect">
            <a:avLst/>
          </a:prstGeom>
        </p:spPr>
      </p:pic>
      <p:sp>
        <p:nvSpPr>
          <p:cNvPr id="41" name="Text 32"/>
          <p:cNvSpPr txBox="1"/>
          <p:nvPr/>
        </p:nvSpPr>
        <p:spPr>
          <a:xfrm>
            <a:off x="1097280" y="4023360"/>
            <a:ext cx="3200400" cy="566928"/>
          </a:xfrm>
          <a:prstGeom prst="rect">
            <a:avLst/>
          </a:prstGeom>
          <a:noFill/>
          <a:ln/>
        </p:spPr>
        <p:txBody>
          <a:bodyPr wrap="square" lIns="0" tIns="0" rIns="0" bIns="0" rtlCol="0" anchor="ctr"/>
          <a:lstStyle/>
          <a:p>
            <a:pPr marL="0" indent="0">
              <a:buNone/>
            </a:pPr>
            <a:r>
              <a:rPr lang="en-US" sz="1300" b="1" dirty="0">
                <a:solidFill>
                  <a:srgbClr val="0B1F3A"/>
                </a:solidFill>
                <a:latin typeface="Calibri" pitchFamily="34" charset="0"/>
                <a:ea typeface="Calibri" pitchFamily="34" charset="-122"/>
                <a:cs typeface="Calibri" pitchFamily="34" charset="-120"/>
              </a:rPr>
              <a:t>No sustituye a las APIs: las envuelve</a:t>
            </a:r>
            <a:endParaRPr lang="en-US" sz="1300" dirty="0"/>
          </a:p>
        </p:txBody>
      </p:sp>
      <p:sp>
        <p:nvSpPr>
          <p:cNvPr id="42" name="Shape 33"/>
          <p:cNvSpPr/>
          <p:nvPr/>
        </p:nvSpPr>
        <p:spPr>
          <a:xfrm>
            <a:off x="4754880" y="4023360"/>
            <a:ext cx="3931920" cy="566928"/>
          </a:xfrm>
          <a:prstGeom prst="roundRect">
            <a:avLst>
              <a:gd name="adj" fmla="val 19355"/>
            </a:avLst>
          </a:prstGeom>
          <a:solidFill>
            <a:srgbClr val="FFFFFF"/>
          </a:solidFill>
          <a:ln w="9525">
            <a:solidFill>
              <a:srgbClr val="D5DEEA"/>
            </a:solidFill>
            <a:prstDash val="solid"/>
          </a:ln>
          <a:effectLst>
            <a:outerShdw blurRad="101600" dist="25400" dir="5400000" algn="bl" rotWithShape="0">
              <a:srgbClr val="0B1F3A">
                <a:alpha val="12000"/>
              </a:srgbClr>
            </a:outerShdw>
          </a:effectLst>
        </p:spPr>
        <p:txBody>
          <a:bodyPr/>
          <a:lstStyle/>
          <a:p>
            <a:endParaRPr lang="es-MX"/>
          </a:p>
        </p:txBody>
      </p:sp>
      <p:sp>
        <p:nvSpPr>
          <p:cNvPr id="43" name="Shape 34"/>
          <p:cNvSpPr/>
          <p:nvPr/>
        </p:nvSpPr>
        <p:spPr>
          <a:xfrm>
            <a:off x="4892040" y="4123944"/>
            <a:ext cx="365760" cy="365760"/>
          </a:xfrm>
          <a:prstGeom prst="ellipse">
            <a:avLst/>
          </a:prstGeom>
          <a:solidFill>
            <a:srgbClr val="F5A524"/>
          </a:solidFill>
          <a:ln w="12700">
            <a:solidFill>
              <a:srgbClr val="F5A524"/>
            </a:solidFill>
            <a:prstDash val="solid"/>
          </a:ln>
        </p:spPr>
        <p:txBody>
          <a:bodyPr/>
          <a:lstStyle/>
          <a:p>
            <a:endParaRPr lang="es-MX"/>
          </a:p>
        </p:txBody>
      </p:sp>
      <p:pic>
        <p:nvPicPr>
          <p:cNvPr id="44" name="Image 7" descr="preencoded.png"/>
          <p:cNvPicPr>
            <a:picLocks noChangeAspect="1"/>
          </p:cNvPicPr>
          <p:nvPr/>
        </p:nvPicPr>
        <p:blipFill>
          <a:blip r:embed="rId10"/>
          <a:stretch>
            <a:fillRect/>
          </a:stretch>
        </p:blipFill>
        <p:spPr>
          <a:xfrm>
            <a:off x="4983480" y="4215384"/>
            <a:ext cx="182880" cy="182880"/>
          </a:xfrm>
          <a:prstGeom prst="rect">
            <a:avLst/>
          </a:prstGeom>
        </p:spPr>
      </p:pic>
      <p:sp>
        <p:nvSpPr>
          <p:cNvPr id="45" name="Text 35"/>
          <p:cNvSpPr txBox="1"/>
          <p:nvPr/>
        </p:nvSpPr>
        <p:spPr>
          <a:xfrm>
            <a:off x="5394960" y="4023360"/>
            <a:ext cx="3200400" cy="566928"/>
          </a:xfrm>
          <a:prstGeom prst="rect">
            <a:avLst/>
          </a:prstGeom>
          <a:noFill/>
          <a:ln/>
        </p:spPr>
        <p:txBody>
          <a:bodyPr wrap="square" lIns="0" tIns="0" rIns="0" bIns="0" rtlCol="0" anchor="ctr"/>
          <a:lstStyle/>
          <a:p>
            <a:pPr marL="0" indent="0">
              <a:buNone/>
            </a:pPr>
            <a:r>
              <a:rPr lang="en-US" sz="1300" b="1" dirty="0">
                <a:solidFill>
                  <a:srgbClr val="0B1F3A"/>
                </a:solidFill>
                <a:latin typeface="Calibri" pitchFamily="34" charset="0"/>
                <a:ea typeface="Calibri" pitchFamily="34" charset="-122"/>
                <a:cs typeface="Calibri" pitchFamily="34" charset="-120"/>
              </a:rPr>
              <a:t>Protocolo abierto, no de un solo proveedor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C"/>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marL="0" indent="0">
              <a:buNone/>
            </a:pPr>
            <a:r>
              <a:rPr lang="en-US" sz="3000" b="1" dirty="0">
                <a:solidFill>
                  <a:srgbClr val="0B1F3A"/>
                </a:solidFill>
                <a:latin typeface="Cambria" pitchFamily="34" charset="0"/>
                <a:ea typeface="Cambria" pitchFamily="34" charset="-122"/>
                <a:cs typeface="Cambria" pitchFamily="34" charset="-120"/>
              </a:rPr>
              <a:t>API tradicional vs. MCP</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3246120"/>
        </p:xfrm>
        <a:graphic>
          <a:graphicData uri="http://schemas.openxmlformats.org/drawingml/2006/table">
            <a:tbl>
              <a:tblPr/>
              <a:tblGrid>
                <a:gridCol w="27432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502920">
                <a:tc>
                  <a:txBody>
                    <a:bodyPr/>
                    <a:lstStyle/>
                    <a:p>
                      <a:pPr marL="0" indent="0">
                        <a:buNone/>
                      </a:pPr>
                      <a:r>
                        <a:rPr lang="en-US" sz="1800" b="1" dirty="0">
                          <a:solidFill>
                            <a:srgbClr val="FFFFFF"/>
                          </a:solidFill>
                          <a:latin typeface="Cambria" pitchFamily="34" charset="0"/>
                          <a:ea typeface="Cambria" pitchFamily="34" charset="-122"/>
                          <a:cs typeface="Cambria" pitchFamily="34" charset="-120"/>
                        </a:rPr>
                        <a:t>Criterio</a:t>
                      </a:r>
                      <a:endParaRPr lang="en-US" sz="1800" dirty="0">
                        <a:latin typeface="Cambria" charset="0"/>
                        <a:ea typeface="Cambria" charset="0"/>
                        <a:cs typeface="Cambria" charset="0"/>
                      </a:endParaRPr>
                    </a:p>
                  </a:txBody>
                  <a:tcPr marL="109728" marR="109728" marT="0" marB="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1F3A"/>
                    </a:solidFill>
                  </a:tcPr>
                </a:tc>
                <a:tc>
                  <a:txBody>
                    <a:bodyPr/>
                    <a:lstStyle/>
                    <a:p>
                      <a:pPr marL="0" indent="0">
                        <a:buNone/>
                      </a:pPr>
                      <a:r>
                        <a:rPr lang="en-US" sz="1800" b="1" dirty="0">
                          <a:solidFill>
                            <a:srgbClr val="FFFFFF"/>
                          </a:solidFill>
                          <a:latin typeface="Cambria" pitchFamily="34" charset="0"/>
                          <a:ea typeface="Cambria" pitchFamily="34" charset="-122"/>
                          <a:cs typeface="Cambria" pitchFamily="34" charset="-120"/>
                        </a:rPr>
                        <a:t>API tradicional</a:t>
                      </a:r>
                      <a:endParaRPr lang="en-US" sz="1800" dirty="0">
                        <a:latin typeface="Cambria" charset="0"/>
                        <a:ea typeface="Cambria" charset="0"/>
                        <a:cs typeface="Cambria" charset="0"/>
                      </a:endParaRPr>
                    </a:p>
                  </a:txBody>
                  <a:tcPr marL="109728" marR="109728" marT="0" marB="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1F3A"/>
                    </a:solidFill>
                  </a:tcPr>
                </a:tc>
                <a:tc>
                  <a:txBody>
                    <a:bodyPr/>
                    <a:lstStyle/>
                    <a:p>
                      <a:pPr marL="0" indent="0">
                        <a:buNone/>
                      </a:pPr>
                      <a:r>
                        <a:rPr lang="en-US" sz="1800" b="1" dirty="0">
                          <a:solidFill>
                            <a:srgbClr val="0B1F3A"/>
                          </a:solidFill>
                          <a:latin typeface="Cambria" pitchFamily="34" charset="0"/>
                          <a:ea typeface="Cambria" pitchFamily="34" charset="-122"/>
                          <a:cs typeface="Cambria" pitchFamily="34" charset="-120"/>
                        </a:rPr>
                        <a:t>MCP</a:t>
                      </a:r>
                      <a:endParaRPr lang="en-US" sz="1800" dirty="0">
                        <a:latin typeface="Cambria" charset="0"/>
                        <a:ea typeface="Cambria" charset="0"/>
                        <a:cs typeface="Cambria" charset="0"/>
                      </a:endParaRPr>
                    </a:p>
                  </a:txBody>
                  <a:tcPr marL="109728" marR="109728" marT="0" marB="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5A524"/>
                    </a:solidFill>
                  </a:tcPr>
                </a:tc>
                <a:extLst>
                  <a:ext uri="{0D108BD9-81ED-4DB2-BD59-A6C34878D82A}">
                    <a16:rowId xmlns:a16="http://schemas.microsoft.com/office/drawing/2014/main" val="10000"/>
                  </a:ext>
                </a:extLst>
              </a:tr>
              <a:tr h="685800">
                <a:tc>
                  <a:txBody>
                    <a:bodyPr/>
                    <a:lstStyle/>
                    <a:p>
                      <a:pPr marL="0" indent="0">
                        <a:buNone/>
                      </a:pPr>
                      <a:r>
                        <a:rPr lang="en-US" sz="1600" b="1" dirty="0">
                          <a:solidFill>
                            <a:srgbClr val="0B1F3A"/>
                          </a:solidFill>
                          <a:latin typeface="Calibri" pitchFamily="34" charset="0"/>
                          <a:ea typeface="Calibri" pitchFamily="34" charset="-122"/>
                          <a:cs typeface="Calibri" pitchFamily="34" charset="-120"/>
                        </a:rPr>
                        <a:t>Quién decide qué se invoca</a:t>
                      </a:r>
                      <a:endParaRPr lang="en-US" sz="1600" dirty="0">
                        <a:latin typeface="Calibri" charset="0"/>
                        <a:ea typeface="Calibri" charset="0"/>
                        <a:cs typeface="Calibri" charset="0"/>
                      </a:endParaRPr>
                    </a:p>
                  </a:txBody>
                  <a:tcPr marL="109728" marR="109728" marT="0" marB="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marL="0" indent="0">
                        <a:buNone/>
                      </a:pPr>
                      <a:r>
                        <a:rPr lang="en-US" sz="1600" dirty="0">
                          <a:solidFill>
                            <a:srgbClr val="0B1F3A"/>
                          </a:solidFill>
                          <a:latin typeface="Calibri" pitchFamily="34" charset="0"/>
                          <a:ea typeface="Calibri" pitchFamily="34" charset="-122"/>
                          <a:cs typeface="Calibri" pitchFamily="34" charset="-120"/>
                        </a:rPr>
                        <a:t>El desarrollador, de antemano</a:t>
                      </a:r>
                      <a:endParaRPr lang="en-US" sz="1600" dirty="0">
                        <a:latin typeface="Calibri" charset="0"/>
                        <a:ea typeface="Calibri" charset="0"/>
                        <a:cs typeface="Calibri" charset="0"/>
                      </a:endParaRPr>
                    </a:p>
                  </a:txBody>
                  <a:tcPr marL="109728" marR="109728" marT="0" marB="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marL="0" indent="0">
                        <a:buNone/>
                      </a:pPr>
                      <a:r>
                        <a:rPr lang="en-US" sz="1600" dirty="0">
                          <a:solidFill>
                            <a:srgbClr val="0B1F3A"/>
                          </a:solidFill>
                          <a:latin typeface="Calibri" pitchFamily="34" charset="0"/>
                          <a:ea typeface="Calibri" pitchFamily="34" charset="-122"/>
                          <a:cs typeface="Calibri" pitchFamily="34" charset="-120"/>
                        </a:rPr>
                        <a:t>El modelo, en tiempo de ejecución</a:t>
                      </a:r>
                      <a:endParaRPr lang="en-US" sz="1600" dirty="0">
                        <a:latin typeface="Calibri" charset="0"/>
                        <a:ea typeface="Calibri" charset="0"/>
                        <a:cs typeface="Calibri" charset="0"/>
                      </a:endParaRPr>
                    </a:p>
                  </a:txBody>
                  <a:tcPr marL="109728" marR="109728" marT="0" marB="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buNone/>
                      </a:pPr>
                      <a:r>
                        <a:rPr lang="en-US" sz="1600" b="1" dirty="0">
                          <a:solidFill>
                            <a:srgbClr val="0B1F3A"/>
                          </a:solidFill>
                          <a:latin typeface="Calibri" pitchFamily="34" charset="0"/>
                          <a:ea typeface="Calibri" pitchFamily="34" charset="-122"/>
                          <a:cs typeface="Calibri" pitchFamily="34" charset="-120"/>
                        </a:rPr>
                        <a:t>Descubrimiento de capacidades</a:t>
                      </a:r>
                      <a:endParaRPr lang="en-US" sz="1600" dirty="0">
                        <a:latin typeface="Calibri" charset="0"/>
                        <a:ea typeface="Calibri" charset="0"/>
                        <a:cs typeface="Calibri" charset="0"/>
                      </a:endParaRPr>
                    </a:p>
                  </a:txBody>
                  <a:tcPr marL="109728" marR="109728" marT="0" marB="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AF0F8"/>
                    </a:solidFill>
                  </a:tcPr>
                </a:tc>
                <a:tc>
                  <a:txBody>
                    <a:bodyPr/>
                    <a:lstStyle/>
                    <a:p>
                      <a:pPr marL="0" indent="0">
                        <a:buNone/>
                      </a:pPr>
                      <a:r>
                        <a:rPr lang="en-US" sz="1600" dirty="0">
                          <a:solidFill>
                            <a:srgbClr val="0B1F3A"/>
                          </a:solidFill>
                          <a:latin typeface="Calibri" pitchFamily="34" charset="0"/>
                          <a:ea typeface="Calibri" pitchFamily="34" charset="-122"/>
                          <a:cs typeface="Calibri" pitchFamily="34" charset="-120"/>
                        </a:rPr>
                        <a:t>Documentación externa</a:t>
                      </a:r>
                      <a:endParaRPr lang="en-US" sz="1600" dirty="0">
                        <a:latin typeface="Calibri" charset="0"/>
                        <a:ea typeface="Calibri" charset="0"/>
                        <a:cs typeface="Calibri" charset="0"/>
                      </a:endParaRPr>
                    </a:p>
                  </a:txBody>
                  <a:tcPr marL="109728" marR="109728" marT="0" marB="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AF0F8"/>
                    </a:solidFill>
                  </a:tcPr>
                </a:tc>
                <a:tc>
                  <a:txBody>
                    <a:bodyPr/>
                    <a:lstStyle/>
                    <a:p>
                      <a:pPr marL="0" indent="0">
                        <a:buNone/>
                      </a:pPr>
                      <a:r>
                        <a:rPr lang="en-US" sz="1600" b="1" dirty="0">
                          <a:solidFill>
                            <a:srgbClr val="0B1F3A"/>
                          </a:solidFill>
                          <a:latin typeface="Courier New" pitchFamily="34" charset="0"/>
                          <a:ea typeface="Courier New" pitchFamily="34" charset="-122"/>
                          <a:cs typeface="Courier New" pitchFamily="34" charset="-120"/>
                        </a:rPr>
                        <a:t>tools/list</a:t>
                      </a:r>
                      <a:r>
                        <a:rPr lang="en-US" sz="1600" dirty="0">
                          <a:solidFill>
                            <a:srgbClr val="0B1F3A"/>
                          </a:solidFill>
                          <a:latin typeface="Calibri" pitchFamily="34" charset="0"/>
                          <a:ea typeface="Calibri" pitchFamily="34" charset="-122"/>
                          <a:cs typeface="Calibri" pitchFamily="34" charset="-120"/>
                        </a:rPr>
                        <a:t> en tiempo real</a:t>
                      </a:r>
                      <a:endParaRPr lang="en-US" sz="1600" dirty="0">
                        <a:latin typeface="Calibri" charset="0"/>
                        <a:ea typeface="Calibri" charset="0"/>
                        <a:cs typeface="Calibri" charset="0"/>
                      </a:endParaRPr>
                    </a:p>
                  </a:txBody>
                  <a:tcPr marL="109728" marR="109728" marT="0" marB="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AF0F8"/>
                    </a:solidFill>
                  </a:tcPr>
                </a:tc>
                <a:extLst>
                  <a:ext uri="{0D108BD9-81ED-4DB2-BD59-A6C34878D82A}">
                    <a16:rowId xmlns:a16="http://schemas.microsoft.com/office/drawing/2014/main" val="10002"/>
                  </a:ext>
                </a:extLst>
              </a:tr>
              <a:tr h="685800">
                <a:tc>
                  <a:txBody>
                    <a:bodyPr/>
                    <a:lstStyle/>
                    <a:p>
                      <a:pPr marL="0" indent="0">
                        <a:buNone/>
                      </a:pPr>
                      <a:r>
                        <a:rPr lang="en-US" sz="1600" b="1" dirty="0">
                          <a:solidFill>
                            <a:srgbClr val="0B1F3A"/>
                          </a:solidFill>
                          <a:latin typeface="Calibri" pitchFamily="34" charset="0"/>
                          <a:ea typeface="Calibri" pitchFamily="34" charset="-122"/>
                          <a:cs typeface="Calibri" pitchFamily="34" charset="-120"/>
                        </a:rPr>
                        <a:t>Acoplamiento cliente–servicio</a:t>
                      </a:r>
                      <a:endParaRPr lang="en-US" sz="1600" dirty="0">
                        <a:latin typeface="Calibri" charset="0"/>
                        <a:ea typeface="Calibri" charset="0"/>
                        <a:cs typeface="Calibri" charset="0"/>
                      </a:endParaRPr>
                    </a:p>
                  </a:txBody>
                  <a:tcPr marL="109728" marR="109728" marT="0" marB="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marL="0" indent="0">
                        <a:buNone/>
                      </a:pPr>
                      <a:r>
                        <a:rPr lang="en-US" sz="1600" dirty="0">
                          <a:solidFill>
                            <a:srgbClr val="0B1F3A"/>
                          </a:solidFill>
                          <a:latin typeface="Calibri" pitchFamily="34" charset="0"/>
                          <a:ea typeface="Calibri" pitchFamily="34" charset="-122"/>
                          <a:cs typeface="Calibri" pitchFamily="34" charset="-120"/>
                        </a:rPr>
                        <a:t>Alto</a:t>
                      </a:r>
                      <a:endParaRPr lang="en-US" sz="1600" dirty="0">
                        <a:latin typeface="Calibri" charset="0"/>
                        <a:ea typeface="Calibri" charset="0"/>
                        <a:cs typeface="Calibri" charset="0"/>
                      </a:endParaRPr>
                    </a:p>
                  </a:txBody>
                  <a:tcPr marL="109728" marR="109728" marT="0" marB="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marL="0" indent="0">
                        <a:buNone/>
                      </a:pPr>
                      <a:r>
                        <a:rPr lang="en-US" sz="1600" dirty="0">
                          <a:solidFill>
                            <a:srgbClr val="0B1F3A"/>
                          </a:solidFill>
                          <a:latin typeface="Calibri" pitchFamily="34" charset="0"/>
                          <a:ea typeface="Calibri" pitchFamily="34" charset="-122"/>
                          <a:cs typeface="Calibri" pitchFamily="34" charset="-120"/>
                        </a:rPr>
                        <a:t>Bajo</a:t>
                      </a:r>
                      <a:endParaRPr lang="en-US" sz="1600" dirty="0">
                        <a:latin typeface="Calibri" charset="0"/>
                        <a:ea typeface="Calibri" charset="0"/>
                        <a:cs typeface="Calibri" charset="0"/>
                      </a:endParaRPr>
                    </a:p>
                  </a:txBody>
                  <a:tcPr marL="109728" marR="109728" marT="0" marB="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5800">
                <a:tc>
                  <a:txBody>
                    <a:bodyPr/>
                    <a:lstStyle/>
                    <a:p>
                      <a:pPr marL="0" indent="0">
                        <a:buNone/>
                      </a:pPr>
                      <a:r>
                        <a:rPr lang="en-US" sz="1600" b="1" dirty="0">
                          <a:solidFill>
                            <a:srgbClr val="0B1F3A"/>
                          </a:solidFill>
                          <a:latin typeface="Calibri" pitchFamily="34" charset="0"/>
                          <a:ea typeface="Calibri" pitchFamily="34" charset="-122"/>
                          <a:cs typeface="Calibri" pitchFamily="34" charset="-120"/>
                        </a:rPr>
                        <a:t>Formato de mensajes</a:t>
                      </a:r>
                      <a:endParaRPr lang="en-US" sz="1600" dirty="0">
                        <a:latin typeface="Calibri" charset="0"/>
                        <a:ea typeface="Calibri" charset="0"/>
                        <a:cs typeface="Calibri" charset="0"/>
                      </a:endParaRPr>
                    </a:p>
                  </a:txBody>
                  <a:tcPr marL="109728" marR="109728" marT="0" marB="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AF0F8"/>
                    </a:solidFill>
                  </a:tcPr>
                </a:tc>
                <a:tc>
                  <a:txBody>
                    <a:bodyPr/>
                    <a:lstStyle/>
                    <a:p>
                      <a:pPr marL="0" indent="0">
                        <a:buNone/>
                      </a:pPr>
                      <a:r>
                        <a:rPr lang="en-US" sz="1600" dirty="0">
                          <a:solidFill>
                            <a:srgbClr val="0B1F3A"/>
                          </a:solidFill>
                          <a:latin typeface="Calibri" pitchFamily="34" charset="0"/>
                          <a:ea typeface="Calibri" pitchFamily="34" charset="-122"/>
                          <a:cs typeface="Calibri" pitchFamily="34" charset="-120"/>
                        </a:rPr>
                        <a:t>Variable (REST, GraphQL...)</a:t>
                      </a:r>
                      <a:endParaRPr lang="en-US" sz="1600" dirty="0">
                        <a:latin typeface="Calibri" charset="0"/>
                        <a:ea typeface="Calibri" charset="0"/>
                        <a:cs typeface="Calibri" charset="0"/>
                      </a:endParaRPr>
                    </a:p>
                  </a:txBody>
                  <a:tcPr marL="109728" marR="109728" marT="0" marB="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AF0F8"/>
                    </a:solidFill>
                  </a:tcPr>
                </a:tc>
                <a:tc>
                  <a:txBody>
                    <a:bodyPr/>
                    <a:lstStyle/>
                    <a:p>
                      <a:pPr marL="0" indent="0">
                        <a:buNone/>
                      </a:pPr>
                      <a:r>
                        <a:rPr lang="en-US" sz="1600" dirty="0">
                          <a:solidFill>
                            <a:srgbClr val="0B1F3A"/>
                          </a:solidFill>
                          <a:latin typeface="Calibri" pitchFamily="34" charset="0"/>
                          <a:ea typeface="Calibri" pitchFamily="34" charset="-122"/>
                          <a:cs typeface="Calibri" pitchFamily="34" charset="-120"/>
                        </a:rPr>
                        <a:t>Estandarizado: </a:t>
                      </a:r>
                      <a:r>
                        <a:rPr lang="en-US" sz="1600" b="1" dirty="0">
                          <a:solidFill>
                            <a:srgbClr val="0B1F3A"/>
                          </a:solidFill>
                          <a:latin typeface="Calibri" pitchFamily="34" charset="0"/>
                          <a:ea typeface="Calibri" pitchFamily="34" charset="-122"/>
                          <a:cs typeface="Calibri" pitchFamily="34" charset="-120"/>
                        </a:rPr>
                        <a:t>JSON-RPC 2.0</a:t>
                      </a:r>
                      <a:endParaRPr lang="en-US" sz="1600" dirty="0">
                        <a:latin typeface="Calibri" charset="0"/>
                        <a:ea typeface="Calibri" charset="0"/>
                        <a:cs typeface="Calibri" charset="0"/>
                      </a:endParaRPr>
                    </a:p>
                  </a:txBody>
                  <a:tcPr marL="109728" marR="109728" marT="0" marB="0"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AF0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C"/>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marL="0" indent="0">
              <a:buNone/>
            </a:pPr>
            <a:r>
              <a:rPr lang="en-US" sz="3000" b="1" dirty="0">
                <a:solidFill>
                  <a:srgbClr val="0B1F3A"/>
                </a:solidFill>
                <a:latin typeface="Cambria" pitchFamily="34" charset="0"/>
                <a:ea typeface="Cambria" pitchFamily="34" charset="-122"/>
                <a:cs typeface="Cambria" pitchFamily="34" charset="-120"/>
              </a:rPr>
              <a:t>Arquitectura: host, cliente, servidor</a:t>
            </a:r>
            <a:endParaRPr lang="en-US" sz="3000" dirty="0"/>
          </a:p>
        </p:txBody>
      </p:sp>
      <p:sp>
        <p:nvSpPr>
          <p:cNvPr id="3" name="Shape 1"/>
          <p:cNvSpPr/>
          <p:nvPr/>
        </p:nvSpPr>
        <p:spPr>
          <a:xfrm>
            <a:off x="457200" y="1143000"/>
            <a:ext cx="3566160" cy="2651760"/>
          </a:xfrm>
          <a:prstGeom prst="roundRect">
            <a:avLst>
              <a:gd name="adj" fmla="val 5172"/>
            </a:avLst>
          </a:prstGeom>
          <a:solidFill>
            <a:srgbClr val="EAF0F8"/>
          </a:solidFill>
          <a:ln w="15875">
            <a:solidFill>
              <a:srgbClr val="0B1F3A"/>
            </a:solidFill>
            <a:prstDash val="solid"/>
          </a:ln>
        </p:spPr>
        <p:txBody>
          <a:bodyPr/>
          <a:lstStyle/>
          <a:p>
            <a:endParaRPr lang="es-MX"/>
          </a:p>
        </p:txBody>
      </p:sp>
      <p:sp>
        <p:nvSpPr>
          <p:cNvPr id="4" name="Text 2"/>
          <p:cNvSpPr txBox="1"/>
          <p:nvPr/>
        </p:nvSpPr>
        <p:spPr>
          <a:xfrm>
            <a:off x="685800" y="1280160"/>
            <a:ext cx="1828800" cy="256032"/>
          </a:xfrm>
          <a:prstGeom prst="rect">
            <a:avLst/>
          </a:prstGeom>
          <a:noFill/>
          <a:ln/>
        </p:spPr>
        <p:txBody>
          <a:bodyPr wrap="square" lIns="0" tIns="0" rIns="0" bIns="0" rtlCol="0" anchor="ctr"/>
          <a:lstStyle/>
          <a:p>
            <a:pPr marL="0" indent="0">
              <a:buNone/>
            </a:pPr>
            <a:r>
              <a:rPr lang="en-US" sz="1100" b="1" kern="0" spc="300" dirty="0">
                <a:solidFill>
                  <a:srgbClr val="5B6B82"/>
                </a:solidFill>
                <a:latin typeface="Calibri" pitchFamily="34" charset="0"/>
                <a:ea typeface="Calibri" pitchFamily="34" charset="-122"/>
                <a:cs typeface="Calibri" pitchFamily="34" charset="-120"/>
              </a:rPr>
              <a:t>HOST</a:t>
            </a:r>
            <a:endParaRPr lang="en-US" sz="1100" dirty="0"/>
          </a:p>
        </p:txBody>
      </p:sp>
      <p:sp>
        <p:nvSpPr>
          <p:cNvPr id="5" name="Text 3"/>
          <p:cNvSpPr txBox="1"/>
          <p:nvPr/>
        </p:nvSpPr>
        <p:spPr>
          <a:xfrm>
            <a:off x="685800" y="1536192"/>
            <a:ext cx="3017520" cy="411480"/>
          </a:xfrm>
          <a:prstGeom prst="rect">
            <a:avLst/>
          </a:prstGeom>
          <a:noFill/>
          <a:ln/>
        </p:spPr>
        <p:txBody>
          <a:bodyPr wrap="square" lIns="0" tIns="0" rIns="0" bIns="0" rtlCol="0" anchor="ctr"/>
          <a:lstStyle/>
          <a:p>
            <a:pPr marL="0" indent="0">
              <a:buNone/>
            </a:pPr>
            <a:r>
              <a:rPr lang="en-US" sz="2000" b="1" dirty="0">
                <a:solidFill>
                  <a:srgbClr val="0B1F3A"/>
                </a:solidFill>
                <a:latin typeface="Cambria" pitchFamily="34" charset="0"/>
                <a:ea typeface="Cambria" pitchFamily="34" charset="-122"/>
                <a:cs typeface="Cambria" pitchFamily="34" charset="-120"/>
              </a:rPr>
              <a:t>Claude Code</a:t>
            </a:r>
            <a:endParaRPr lang="en-US" sz="2000" dirty="0"/>
          </a:p>
        </p:txBody>
      </p:sp>
      <p:sp>
        <p:nvSpPr>
          <p:cNvPr id="6" name="Shape 4"/>
          <p:cNvSpPr/>
          <p:nvPr/>
        </p:nvSpPr>
        <p:spPr>
          <a:xfrm>
            <a:off x="731520" y="2148840"/>
            <a:ext cx="3017520" cy="1371600"/>
          </a:xfrm>
          <a:prstGeom prst="roundRect">
            <a:avLst>
              <a:gd name="adj" fmla="val 8000"/>
            </a:avLst>
          </a:prstGeom>
          <a:solidFill>
            <a:srgbClr val="FFFFFF"/>
          </a:solidFill>
          <a:ln w="9525">
            <a:solidFill>
              <a:srgbClr val="D5DEEA"/>
            </a:solidFill>
            <a:prstDash val="solid"/>
          </a:ln>
          <a:effectLst>
            <a:outerShdw blurRad="101600" dist="25400" dir="5400000" algn="bl" rotWithShape="0">
              <a:srgbClr val="0B1F3A">
                <a:alpha val="12000"/>
              </a:srgbClr>
            </a:outerShdw>
          </a:effectLst>
        </p:spPr>
        <p:txBody>
          <a:bodyPr/>
          <a:lstStyle/>
          <a:p>
            <a:endParaRPr lang="es-MX"/>
          </a:p>
        </p:txBody>
      </p:sp>
      <p:sp>
        <p:nvSpPr>
          <p:cNvPr id="7" name="Shape 5"/>
          <p:cNvSpPr/>
          <p:nvPr/>
        </p:nvSpPr>
        <p:spPr>
          <a:xfrm>
            <a:off x="960120" y="2514600"/>
            <a:ext cx="640080" cy="640080"/>
          </a:xfrm>
          <a:prstGeom prst="ellipse">
            <a:avLst/>
          </a:prstGeom>
          <a:solidFill>
            <a:srgbClr val="0B1F3A"/>
          </a:solidFill>
          <a:ln w="12700">
            <a:solidFill>
              <a:srgbClr val="0B1F3A"/>
            </a:solidFill>
            <a:prstDash val="solid"/>
          </a:ln>
        </p:spPr>
        <p:txBody>
          <a:bodyPr/>
          <a:lstStyle/>
          <a:p>
            <a:endParaRPr lang="es-MX"/>
          </a:p>
        </p:txBody>
      </p:sp>
      <p:pic>
        <p:nvPicPr>
          <p:cNvPr id="8" name="Image 0" descr="preencoded.png"/>
          <p:cNvPicPr>
            <a:picLocks noChangeAspect="1"/>
          </p:cNvPicPr>
          <p:nvPr/>
        </p:nvPicPr>
        <p:blipFill>
          <a:blip r:embed="rId3"/>
          <a:stretch>
            <a:fillRect/>
          </a:stretch>
        </p:blipFill>
        <p:spPr>
          <a:xfrm>
            <a:off x="1120140" y="2674620"/>
            <a:ext cx="320040" cy="320040"/>
          </a:xfrm>
          <a:prstGeom prst="rect">
            <a:avLst/>
          </a:prstGeom>
        </p:spPr>
      </p:pic>
      <p:sp>
        <p:nvSpPr>
          <p:cNvPr id="9" name="Text 6"/>
          <p:cNvSpPr txBox="1"/>
          <p:nvPr/>
        </p:nvSpPr>
        <p:spPr>
          <a:xfrm>
            <a:off x="1783080" y="2377440"/>
            <a:ext cx="1828800" cy="457200"/>
          </a:xfrm>
          <a:prstGeom prst="rect">
            <a:avLst/>
          </a:prstGeom>
          <a:noFill/>
          <a:ln/>
        </p:spPr>
        <p:txBody>
          <a:bodyPr wrap="square" lIns="0" tIns="0" rIns="0" bIns="0" rtlCol="0" anchor="ctr"/>
          <a:lstStyle/>
          <a:p>
            <a:pPr marL="0" indent="0">
              <a:buNone/>
            </a:pPr>
            <a:r>
              <a:rPr lang="en-US" sz="1800" b="1" dirty="0">
                <a:solidFill>
                  <a:srgbClr val="0B1F3A"/>
                </a:solidFill>
                <a:latin typeface="Calibri" pitchFamily="34" charset="0"/>
                <a:ea typeface="Calibri" pitchFamily="34" charset="-122"/>
                <a:cs typeface="Calibri" pitchFamily="34" charset="-120"/>
              </a:rPr>
              <a:t>Cliente</a:t>
            </a:r>
            <a:endParaRPr lang="en-US" sz="1800" dirty="0"/>
          </a:p>
        </p:txBody>
      </p:sp>
      <p:sp>
        <p:nvSpPr>
          <p:cNvPr id="10" name="Text 7"/>
          <p:cNvSpPr txBox="1"/>
          <p:nvPr/>
        </p:nvSpPr>
        <p:spPr>
          <a:xfrm>
            <a:off x="1783080" y="2834640"/>
            <a:ext cx="1828800" cy="274320"/>
          </a:xfrm>
          <a:prstGeom prst="rect">
            <a:avLst/>
          </a:prstGeom>
          <a:noFill/>
          <a:ln/>
        </p:spPr>
        <p:txBody>
          <a:bodyPr wrap="square" lIns="0" tIns="0" rIns="0" bIns="0" rtlCol="0" anchor="ctr"/>
          <a:lstStyle/>
          <a:p>
            <a:pPr marL="0" indent="0">
              <a:buNone/>
            </a:pPr>
            <a:r>
              <a:rPr lang="en-US" sz="1200" dirty="0">
                <a:solidFill>
                  <a:srgbClr val="5B6B82"/>
                </a:solidFill>
                <a:latin typeface="Calibri" pitchFamily="34" charset="0"/>
                <a:ea typeface="Calibri" pitchFamily="34" charset="-122"/>
                <a:cs typeface="Calibri" pitchFamily="34" charset="-120"/>
              </a:rPr>
              <a:t>dentro del host</a:t>
            </a:r>
            <a:endParaRPr lang="en-US" sz="1200" dirty="0"/>
          </a:p>
        </p:txBody>
      </p:sp>
      <p:sp>
        <p:nvSpPr>
          <p:cNvPr id="11" name="Shape 8"/>
          <p:cNvSpPr/>
          <p:nvPr/>
        </p:nvSpPr>
        <p:spPr>
          <a:xfrm>
            <a:off x="3749040" y="2834640"/>
            <a:ext cx="1371600" cy="0"/>
          </a:xfrm>
          <a:prstGeom prst="line">
            <a:avLst/>
          </a:prstGeom>
          <a:noFill/>
          <a:ln w="38100">
            <a:solidFill>
              <a:srgbClr val="F5A524"/>
            </a:solidFill>
            <a:prstDash val="solid"/>
            <a:tailEnd type="triangle"/>
          </a:ln>
        </p:spPr>
        <p:txBody>
          <a:bodyPr/>
          <a:lstStyle/>
          <a:p>
            <a:endParaRPr lang="es-MX"/>
          </a:p>
        </p:txBody>
      </p:sp>
      <p:sp>
        <p:nvSpPr>
          <p:cNvPr id="12" name="Shape 9"/>
          <p:cNvSpPr/>
          <p:nvPr/>
        </p:nvSpPr>
        <p:spPr>
          <a:xfrm flipH="1">
            <a:off x="3749040" y="2834640"/>
            <a:ext cx="1371600" cy="0"/>
          </a:xfrm>
          <a:prstGeom prst="line">
            <a:avLst/>
          </a:prstGeom>
          <a:noFill/>
          <a:ln w="38100">
            <a:solidFill>
              <a:srgbClr val="F5A524"/>
            </a:solidFill>
            <a:prstDash val="solid"/>
            <a:tailEnd type="triangle"/>
          </a:ln>
        </p:spPr>
        <p:txBody>
          <a:bodyPr/>
          <a:lstStyle/>
          <a:p>
            <a:endParaRPr lang="es-MX"/>
          </a:p>
        </p:txBody>
      </p:sp>
      <p:sp>
        <p:nvSpPr>
          <p:cNvPr id="13" name="Text 10"/>
          <p:cNvSpPr txBox="1"/>
          <p:nvPr/>
        </p:nvSpPr>
        <p:spPr>
          <a:xfrm>
            <a:off x="4069080" y="2395728"/>
            <a:ext cx="1051560" cy="365760"/>
          </a:xfrm>
          <a:prstGeom prst="rect">
            <a:avLst/>
          </a:prstGeom>
          <a:noFill/>
          <a:ln/>
        </p:spPr>
        <p:txBody>
          <a:bodyPr wrap="square" lIns="0" tIns="0" rIns="0" bIns="0" rtlCol="0" anchor="ctr"/>
          <a:lstStyle/>
          <a:p>
            <a:pPr marL="0" indent="0" algn="ctr">
              <a:buNone/>
            </a:pPr>
            <a:r>
              <a:rPr lang="en-US" sz="1600" b="1" dirty="0">
                <a:solidFill>
                  <a:srgbClr val="0B1F3A"/>
                </a:solidFill>
                <a:latin typeface="Calibri" pitchFamily="34" charset="0"/>
                <a:ea typeface="Calibri" pitchFamily="34" charset="-122"/>
                <a:cs typeface="Calibri" pitchFamily="34" charset="-120"/>
              </a:rPr>
              <a:t>1 : 1</a:t>
            </a:r>
            <a:endParaRPr lang="en-US" sz="1600" dirty="0"/>
          </a:p>
        </p:txBody>
      </p:sp>
      <p:sp>
        <p:nvSpPr>
          <p:cNvPr id="14" name="Shape 11"/>
          <p:cNvSpPr/>
          <p:nvPr/>
        </p:nvSpPr>
        <p:spPr>
          <a:xfrm>
            <a:off x="5120640" y="1143000"/>
            <a:ext cx="3566160" cy="2651760"/>
          </a:xfrm>
          <a:prstGeom prst="roundRect">
            <a:avLst>
              <a:gd name="adj" fmla="val 4138"/>
            </a:avLst>
          </a:prstGeom>
          <a:solidFill>
            <a:srgbClr val="0B1F3A"/>
          </a:solidFill>
          <a:ln w="9525">
            <a:solidFill>
              <a:srgbClr val="0B1F3A"/>
            </a:solidFill>
            <a:prstDash val="solid"/>
          </a:ln>
          <a:effectLst>
            <a:outerShdw blurRad="101600" dist="25400" dir="5400000" algn="bl" rotWithShape="0">
              <a:srgbClr val="0B1F3A">
                <a:alpha val="12000"/>
              </a:srgbClr>
            </a:outerShdw>
          </a:effectLst>
        </p:spPr>
        <p:txBody>
          <a:bodyPr/>
          <a:lstStyle/>
          <a:p>
            <a:endParaRPr lang="es-MX"/>
          </a:p>
        </p:txBody>
      </p:sp>
      <p:sp>
        <p:nvSpPr>
          <p:cNvPr id="15" name="Text 12"/>
          <p:cNvSpPr txBox="1"/>
          <p:nvPr/>
        </p:nvSpPr>
        <p:spPr>
          <a:xfrm>
            <a:off x="5349240" y="1280160"/>
            <a:ext cx="2286000" cy="256032"/>
          </a:xfrm>
          <a:prstGeom prst="rect">
            <a:avLst/>
          </a:prstGeom>
          <a:noFill/>
          <a:ln/>
        </p:spPr>
        <p:txBody>
          <a:bodyPr wrap="square" lIns="0" tIns="0" rIns="0" bIns="0" rtlCol="0" anchor="ctr"/>
          <a:lstStyle/>
          <a:p>
            <a:pPr marL="0" indent="0">
              <a:buNone/>
            </a:pPr>
            <a:r>
              <a:rPr lang="en-US" sz="1100" b="1" kern="0" spc="300" dirty="0">
                <a:solidFill>
                  <a:srgbClr val="CADCFC"/>
                </a:solidFill>
                <a:latin typeface="Calibri" pitchFamily="34" charset="0"/>
                <a:ea typeface="Calibri" pitchFamily="34" charset="-122"/>
                <a:cs typeface="Calibri" pitchFamily="34" charset="-120"/>
              </a:rPr>
              <a:t>SERVIDOR</a:t>
            </a:r>
            <a:endParaRPr lang="en-US" sz="1100" dirty="0"/>
          </a:p>
        </p:txBody>
      </p:sp>
      <p:sp>
        <p:nvSpPr>
          <p:cNvPr id="16" name="Text 13"/>
          <p:cNvSpPr txBox="1"/>
          <p:nvPr/>
        </p:nvSpPr>
        <p:spPr>
          <a:xfrm>
            <a:off x="5349240" y="1554480"/>
            <a:ext cx="3200400" cy="365760"/>
          </a:xfrm>
          <a:prstGeom prst="rect">
            <a:avLst/>
          </a:prstGeom>
          <a:noFill/>
          <a:ln/>
        </p:spPr>
        <p:txBody>
          <a:bodyPr wrap="square" lIns="0" tIns="0" rIns="0" bIns="0" rtlCol="0" anchor="ctr"/>
          <a:lstStyle/>
          <a:p>
            <a:pPr marL="0" indent="0">
              <a:buNone/>
            </a:pPr>
            <a:r>
              <a:rPr lang="en-US" sz="950" dirty="0">
                <a:solidFill>
                  <a:srgbClr val="F5A524"/>
                </a:solidFill>
                <a:latin typeface="Courier New" pitchFamily="34" charset="0"/>
                <a:ea typeface="Courier New" pitchFamily="34" charset="-122"/>
                <a:cs typeface="Courier New" pitchFamily="34" charset="-120"/>
              </a:rPr>
              <a:t>@modelcontextprotocol/server-filesystem</a:t>
            </a:r>
            <a:endParaRPr lang="en-US" sz="950" dirty="0"/>
          </a:p>
        </p:txBody>
      </p:sp>
      <p:sp>
        <p:nvSpPr>
          <p:cNvPr id="17" name="Shape 14"/>
          <p:cNvSpPr/>
          <p:nvPr/>
        </p:nvSpPr>
        <p:spPr>
          <a:xfrm>
            <a:off x="5349240" y="2148840"/>
            <a:ext cx="3108960" cy="438912"/>
          </a:xfrm>
          <a:prstGeom prst="roundRect">
            <a:avLst>
              <a:gd name="adj" fmla="val 16667"/>
            </a:avLst>
          </a:prstGeom>
          <a:solidFill>
            <a:srgbClr val="16345F"/>
          </a:solidFill>
          <a:ln w="12700">
            <a:solidFill>
              <a:srgbClr val="16345F"/>
            </a:solidFill>
            <a:prstDash val="solid"/>
          </a:ln>
        </p:spPr>
        <p:txBody>
          <a:bodyPr/>
          <a:lstStyle/>
          <a:p>
            <a:endParaRPr lang="es-MX"/>
          </a:p>
        </p:txBody>
      </p:sp>
      <p:pic>
        <p:nvPicPr>
          <p:cNvPr id="18" name="Image 1" descr="preencoded.png"/>
          <p:cNvPicPr>
            <a:picLocks noChangeAspect="1"/>
          </p:cNvPicPr>
          <p:nvPr/>
        </p:nvPicPr>
        <p:blipFill>
          <a:blip r:embed="rId4"/>
          <a:stretch>
            <a:fillRect/>
          </a:stretch>
        </p:blipFill>
        <p:spPr>
          <a:xfrm>
            <a:off x="5486400" y="2249424"/>
            <a:ext cx="237744" cy="237744"/>
          </a:xfrm>
          <a:prstGeom prst="rect">
            <a:avLst/>
          </a:prstGeom>
        </p:spPr>
      </p:pic>
      <p:sp>
        <p:nvSpPr>
          <p:cNvPr id="19" name="Text 15"/>
          <p:cNvSpPr txBox="1"/>
          <p:nvPr/>
        </p:nvSpPr>
        <p:spPr>
          <a:xfrm>
            <a:off x="5897880" y="2148840"/>
            <a:ext cx="2377440" cy="438912"/>
          </a:xfrm>
          <a:prstGeom prst="rect">
            <a:avLst/>
          </a:prstGeom>
          <a:noFill/>
          <a:ln/>
        </p:spPr>
        <p:txBody>
          <a:bodyPr wrap="square" lIns="0" tIns="0" rIns="0" bIns="0" rtlCol="0" anchor="ctr"/>
          <a:lstStyle/>
          <a:p>
            <a:pPr marL="0" indent="0">
              <a:buNone/>
            </a:pPr>
            <a:r>
              <a:rPr lang="en-US" sz="1400" b="1" dirty="0">
                <a:solidFill>
                  <a:srgbClr val="FFFFFF"/>
                </a:solidFill>
                <a:latin typeface="Courier New" pitchFamily="34" charset="0"/>
                <a:ea typeface="Courier New" pitchFamily="34" charset="-122"/>
                <a:cs typeface="Courier New" pitchFamily="34" charset="-120"/>
              </a:rPr>
              <a:t>tools</a:t>
            </a:r>
            <a:endParaRPr lang="en-US" sz="1400" dirty="0"/>
          </a:p>
        </p:txBody>
      </p:sp>
      <p:sp>
        <p:nvSpPr>
          <p:cNvPr id="20" name="Shape 16"/>
          <p:cNvSpPr/>
          <p:nvPr/>
        </p:nvSpPr>
        <p:spPr>
          <a:xfrm>
            <a:off x="5349240" y="2679192"/>
            <a:ext cx="3108960" cy="438912"/>
          </a:xfrm>
          <a:prstGeom prst="roundRect">
            <a:avLst>
              <a:gd name="adj" fmla="val 16667"/>
            </a:avLst>
          </a:prstGeom>
          <a:solidFill>
            <a:srgbClr val="16345F"/>
          </a:solidFill>
          <a:ln w="12700">
            <a:solidFill>
              <a:srgbClr val="16345F"/>
            </a:solidFill>
            <a:prstDash val="solid"/>
          </a:ln>
        </p:spPr>
        <p:txBody>
          <a:bodyPr/>
          <a:lstStyle/>
          <a:p>
            <a:endParaRPr lang="es-MX"/>
          </a:p>
        </p:txBody>
      </p:sp>
      <p:pic>
        <p:nvPicPr>
          <p:cNvPr id="21" name="Image 2" descr="preencoded.png"/>
          <p:cNvPicPr>
            <a:picLocks noChangeAspect="1"/>
          </p:cNvPicPr>
          <p:nvPr/>
        </p:nvPicPr>
        <p:blipFill>
          <a:blip r:embed="rId5"/>
          <a:stretch>
            <a:fillRect/>
          </a:stretch>
        </p:blipFill>
        <p:spPr>
          <a:xfrm>
            <a:off x="5486400" y="2779776"/>
            <a:ext cx="237744" cy="237744"/>
          </a:xfrm>
          <a:prstGeom prst="rect">
            <a:avLst/>
          </a:prstGeom>
        </p:spPr>
      </p:pic>
      <p:sp>
        <p:nvSpPr>
          <p:cNvPr id="22" name="Text 17"/>
          <p:cNvSpPr txBox="1"/>
          <p:nvPr/>
        </p:nvSpPr>
        <p:spPr>
          <a:xfrm>
            <a:off x="5897880" y="2679192"/>
            <a:ext cx="2377440" cy="438912"/>
          </a:xfrm>
          <a:prstGeom prst="rect">
            <a:avLst/>
          </a:prstGeom>
          <a:noFill/>
          <a:ln/>
        </p:spPr>
        <p:txBody>
          <a:bodyPr wrap="square" lIns="0" tIns="0" rIns="0" bIns="0" rtlCol="0" anchor="ctr"/>
          <a:lstStyle/>
          <a:p>
            <a:pPr marL="0" indent="0">
              <a:buNone/>
            </a:pPr>
            <a:r>
              <a:rPr lang="en-US" sz="1400" b="1" dirty="0">
                <a:solidFill>
                  <a:srgbClr val="FFFFFF"/>
                </a:solidFill>
                <a:latin typeface="Courier New" pitchFamily="34" charset="0"/>
                <a:ea typeface="Courier New" pitchFamily="34" charset="-122"/>
                <a:cs typeface="Courier New" pitchFamily="34" charset="-120"/>
              </a:rPr>
              <a:t>resources</a:t>
            </a:r>
            <a:endParaRPr lang="en-US" sz="1400" dirty="0"/>
          </a:p>
        </p:txBody>
      </p:sp>
      <p:sp>
        <p:nvSpPr>
          <p:cNvPr id="23" name="Shape 18"/>
          <p:cNvSpPr/>
          <p:nvPr/>
        </p:nvSpPr>
        <p:spPr>
          <a:xfrm>
            <a:off x="5349240" y="3209544"/>
            <a:ext cx="3108960" cy="438912"/>
          </a:xfrm>
          <a:prstGeom prst="roundRect">
            <a:avLst>
              <a:gd name="adj" fmla="val 16667"/>
            </a:avLst>
          </a:prstGeom>
          <a:solidFill>
            <a:srgbClr val="16345F"/>
          </a:solidFill>
          <a:ln w="12700">
            <a:solidFill>
              <a:srgbClr val="16345F"/>
            </a:solidFill>
            <a:prstDash val="solid"/>
          </a:ln>
        </p:spPr>
        <p:txBody>
          <a:bodyPr/>
          <a:lstStyle/>
          <a:p>
            <a:endParaRPr lang="es-MX"/>
          </a:p>
        </p:txBody>
      </p:sp>
      <p:pic>
        <p:nvPicPr>
          <p:cNvPr id="24" name="Image 3" descr="preencoded.png"/>
          <p:cNvPicPr>
            <a:picLocks noChangeAspect="1"/>
          </p:cNvPicPr>
          <p:nvPr/>
        </p:nvPicPr>
        <p:blipFill>
          <a:blip r:embed="rId6"/>
          <a:stretch>
            <a:fillRect/>
          </a:stretch>
        </p:blipFill>
        <p:spPr>
          <a:xfrm>
            <a:off x="5486400" y="3310128"/>
            <a:ext cx="237744" cy="237744"/>
          </a:xfrm>
          <a:prstGeom prst="rect">
            <a:avLst/>
          </a:prstGeom>
        </p:spPr>
      </p:pic>
      <p:sp>
        <p:nvSpPr>
          <p:cNvPr id="25" name="Text 19"/>
          <p:cNvSpPr txBox="1"/>
          <p:nvPr/>
        </p:nvSpPr>
        <p:spPr>
          <a:xfrm>
            <a:off x="5897880" y="3209544"/>
            <a:ext cx="2377440" cy="438912"/>
          </a:xfrm>
          <a:prstGeom prst="rect">
            <a:avLst/>
          </a:prstGeom>
          <a:noFill/>
          <a:ln/>
        </p:spPr>
        <p:txBody>
          <a:bodyPr wrap="square" lIns="0" tIns="0" rIns="0" bIns="0" rtlCol="0" anchor="ctr"/>
          <a:lstStyle/>
          <a:p>
            <a:pPr marL="0" indent="0">
              <a:buNone/>
            </a:pPr>
            <a:r>
              <a:rPr lang="en-US" sz="1400" b="1" dirty="0">
                <a:solidFill>
                  <a:srgbClr val="FFFFFF"/>
                </a:solidFill>
                <a:latin typeface="Courier New" pitchFamily="34" charset="0"/>
                <a:ea typeface="Courier New" pitchFamily="34" charset="-122"/>
                <a:cs typeface="Courier New" pitchFamily="34" charset="-120"/>
              </a:rPr>
              <a:t>prompts</a:t>
            </a:r>
            <a:endParaRPr lang="en-US" sz="1400" dirty="0"/>
          </a:p>
        </p:txBody>
      </p:sp>
      <p:sp>
        <p:nvSpPr>
          <p:cNvPr id="26" name="Shape 20"/>
          <p:cNvSpPr/>
          <p:nvPr/>
        </p:nvSpPr>
        <p:spPr>
          <a:xfrm>
            <a:off x="457200" y="4023360"/>
            <a:ext cx="3931920" cy="566928"/>
          </a:xfrm>
          <a:prstGeom prst="roundRect">
            <a:avLst>
              <a:gd name="adj" fmla="val 19355"/>
            </a:avLst>
          </a:prstGeom>
          <a:solidFill>
            <a:srgbClr val="FFFFFF"/>
          </a:solidFill>
          <a:ln w="9525">
            <a:solidFill>
              <a:srgbClr val="D5DEEA"/>
            </a:solidFill>
            <a:prstDash val="solid"/>
          </a:ln>
          <a:effectLst>
            <a:outerShdw blurRad="101600" dist="25400" dir="5400000" algn="bl" rotWithShape="0">
              <a:srgbClr val="0B1F3A">
                <a:alpha val="12000"/>
              </a:srgbClr>
            </a:outerShdw>
          </a:effectLst>
        </p:spPr>
        <p:txBody>
          <a:bodyPr/>
          <a:lstStyle/>
          <a:p>
            <a:endParaRPr lang="es-MX"/>
          </a:p>
        </p:txBody>
      </p:sp>
      <p:sp>
        <p:nvSpPr>
          <p:cNvPr id="27" name="Shape 21"/>
          <p:cNvSpPr/>
          <p:nvPr/>
        </p:nvSpPr>
        <p:spPr>
          <a:xfrm>
            <a:off x="594360" y="4123944"/>
            <a:ext cx="365760" cy="365760"/>
          </a:xfrm>
          <a:prstGeom prst="ellipse">
            <a:avLst/>
          </a:prstGeom>
          <a:solidFill>
            <a:srgbClr val="F5A524"/>
          </a:solidFill>
          <a:ln w="12700">
            <a:solidFill>
              <a:srgbClr val="F5A524"/>
            </a:solidFill>
            <a:prstDash val="solid"/>
          </a:ln>
        </p:spPr>
        <p:txBody>
          <a:bodyPr/>
          <a:lstStyle/>
          <a:p>
            <a:endParaRPr lang="es-MX"/>
          </a:p>
        </p:txBody>
      </p:sp>
      <p:pic>
        <p:nvPicPr>
          <p:cNvPr id="28" name="Image 4" descr="preencoded.png"/>
          <p:cNvPicPr>
            <a:picLocks noChangeAspect="1"/>
          </p:cNvPicPr>
          <p:nvPr/>
        </p:nvPicPr>
        <p:blipFill>
          <a:blip r:embed="rId7"/>
          <a:stretch>
            <a:fillRect/>
          </a:stretch>
        </p:blipFill>
        <p:spPr>
          <a:xfrm>
            <a:off x="685800" y="4215384"/>
            <a:ext cx="182880" cy="182880"/>
          </a:xfrm>
          <a:prstGeom prst="rect">
            <a:avLst/>
          </a:prstGeom>
        </p:spPr>
      </p:pic>
      <p:sp>
        <p:nvSpPr>
          <p:cNvPr id="29" name="Text 22"/>
          <p:cNvSpPr txBox="1"/>
          <p:nvPr/>
        </p:nvSpPr>
        <p:spPr>
          <a:xfrm>
            <a:off x="1097280" y="4023360"/>
            <a:ext cx="3200400" cy="566928"/>
          </a:xfrm>
          <a:prstGeom prst="rect">
            <a:avLst/>
          </a:prstGeom>
          <a:noFill/>
          <a:ln/>
        </p:spPr>
        <p:txBody>
          <a:bodyPr wrap="square" lIns="0" tIns="0" rIns="0" bIns="0" rtlCol="0" anchor="ctr"/>
          <a:lstStyle/>
          <a:p>
            <a:pPr marL="0" indent="0">
              <a:buNone/>
            </a:pPr>
            <a:r>
              <a:rPr lang="en-US" sz="1300" b="1" dirty="0">
                <a:solidFill>
                  <a:srgbClr val="0B1F3A"/>
                </a:solidFill>
                <a:latin typeface="Courier New" pitchFamily="34" charset="0"/>
                <a:ea typeface="Courier New" pitchFamily="34" charset="-122"/>
                <a:cs typeface="Courier New" pitchFamily="34" charset="-120"/>
              </a:rPr>
              <a:t>stdio</a:t>
            </a:r>
            <a:r>
              <a:rPr lang="en-US" sz="1300" dirty="0">
                <a:solidFill>
                  <a:srgbClr val="5B6B82"/>
                </a:solidFill>
                <a:latin typeface="Calibri" pitchFamily="34" charset="0"/>
                <a:ea typeface="Calibri" pitchFamily="34" charset="-122"/>
                <a:cs typeface="Calibri" pitchFamily="34" charset="-120"/>
              </a:rPr>
              <a:t>   ·   local (proceso hijo)</a:t>
            </a:r>
            <a:endParaRPr lang="en-US" sz="1300" dirty="0"/>
          </a:p>
        </p:txBody>
      </p:sp>
      <p:sp>
        <p:nvSpPr>
          <p:cNvPr id="30" name="Shape 23"/>
          <p:cNvSpPr/>
          <p:nvPr/>
        </p:nvSpPr>
        <p:spPr>
          <a:xfrm>
            <a:off x="4754880" y="4023360"/>
            <a:ext cx="3931920" cy="566928"/>
          </a:xfrm>
          <a:prstGeom prst="roundRect">
            <a:avLst>
              <a:gd name="adj" fmla="val 19355"/>
            </a:avLst>
          </a:prstGeom>
          <a:solidFill>
            <a:srgbClr val="FFFFFF"/>
          </a:solidFill>
          <a:ln w="9525">
            <a:solidFill>
              <a:srgbClr val="D5DEEA"/>
            </a:solidFill>
            <a:prstDash val="solid"/>
          </a:ln>
          <a:effectLst>
            <a:outerShdw blurRad="101600" dist="25400" dir="5400000" algn="bl" rotWithShape="0">
              <a:srgbClr val="0B1F3A">
                <a:alpha val="12000"/>
              </a:srgbClr>
            </a:outerShdw>
          </a:effectLst>
        </p:spPr>
        <p:txBody>
          <a:bodyPr/>
          <a:lstStyle/>
          <a:p>
            <a:endParaRPr lang="es-MX"/>
          </a:p>
        </p:txBody>
      </p:sp>
      <p:sp>
        <p:nvSpPr>
          <p:cNvPr id="31" name="Shape 24"/>
          <p:cNvSpPr/>
          <p:nvPr/>
        </p:nvSpPr>
        <p:spPr>
          <a:xfrm>
            <a:off x="4892040" y="4123944"/>
            <a:ext cx="365760" cy="365760"/>
          </a:xfrm>
          <a:prstGeom prst="ellipse">
            <a:avLst/>
          </a:prstGeom>
          <a:solidFill>
            <a:srgbClr val="F5A524"/>
          </a:solidFill>
          <a:ln w="12700">
            <a:solidFill>
              <a:srgbClr val="F5A524"/>
            </a:solidFill>
            <a:prstDash val="solid"/>
          </a:ln>
        </p:spPr>
        <p:txBody>
          <a:bodyPr/>
          <a:lstStyle/>
          <a:p>
            <a:endParaRPr lang="es-MX"/>
          </a:p>
        </p:txBody>
      </p:sp>
      <p:pic>
        <p:nvPicPr>
          <p:cNvPr id="32" name="Image 5" descr="preencoded.png"/>
          <p:cNvPicPr>
            <a:picLocks noChangeAspect="1"/>
          </p:cNvPicPr>
          <p:nvPr/>
        </p:nvPicPr>
        <p:blipFill>
          <a:blip r:embed="rId8"/>
          <a:stretch>
            <a:fillRect/>
          </a:stretch>
        </p:blipFill>
        <p:spPr>
          <a:xfrm>
            <a:off x="4983480" y="4215384"/>
            <a:ext cx="182880" cy="182880"/>
          </a:xfrm>
          <a:prstGeom prst="rect">
            <a:avLst/>
          </a:prstGeom>
        </p:spPr>
      </p:pic>
      <p:sp>
        <p:nvSpPr>
          <p:cNvPr id="33" name="Text 25"/>
          <p:cNvSpPr txBox="1"/>
          <p:nvPr/>
        </p:nvSpPr>
        <p:spPr>
          <a:xfrm>
            <a:off x="5394960" y="4023360"/>
            <a:ext cx="3200400" cy="566928"/>
          </a:xfrm>
          <a:prstGeom prst="rect">
            <a:avLst/>
          </a:prstGeom>
          <a:noFill/>
          <a:ln/>
        </p:spPr>
        <p:txBody>
          <a:bodyPr wrap="square" lIns="0" tIns="0" rIns="0" bIns="0" rtlCol="0" anchor="ctr"/>
          <a:lstStyle/>
          <a:p>
            <a:pPr marL="0" indent="0">
              <a:buNone/>
            </a:pPr>
            <a:r>
              <a:rPr lang="en-US" sz="1300" b="1" dirty="0">
                <a:solidFill>
                  <a:srgbClr val="0B1F3A"/>
                </a:solidFill>
                <a:latin typeface="Calibri" pitchFamily="34" charset="0"/>
                <a:ea typeface="Calibri" pitchFamily="34" charset="-122"/>
                <a:cs typeface="Calibri" pitchFamily="34" charset="-120"/>
              </a:rPr>
              <a:t>Streamable HTTP</a:t>
            </a:r>
            <a:r>
              <a:rPr lang="en-US" sz="1300" dirty="0">
                <a:solidFill>
                  <a:srgbClr val="5B6B82"/>
                </a:solidFill>
                <a:latin typeface="Calibri" pitchFamily="34" charset="0"/>
                <a:ea typeface="Calibri" pitchFamily="34" charset="-122"/>
                <a:cs typeface="Calibri" pitchFamily="34" charset="-120"/>
              </a:rPr>
              <a:t>   ·   remoto</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C"/>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marL="0" indent="0">
              <a:buNone/>
            </a:pPr>
            <a:r>
              <a:rPr lang="en-US" sz="3000" b="1" dirty="0">
                <a:solidFill>
                  <a:srgbClr val="0B1F3A"/>
                </a:solidFill>
                <a:latin typeface="Cambria" pitchFamily="34" charset="0"/>
                <a:ea typeface="Cambria" pitchFamily="34" charset="-122"/>
                <a:cs typeface="Cambria" pitchFamily="34" charset="-120"/>
              </a:rPr>
              <a:t>El servidor de sistema de archivos</a:t>
            </a:r>
            <a:endParaRPr lang="en-US" sz="3000" dirty="0"/>
          </a:p>
        </p:txBody>
      </p:sp>
      <p:sp>
        <p:nvSpPr>
          <p:cNvPr id="3" name="Shape 1"/>
          <p:cNvSpPr/>
          <p:nvPr/>
        </p:nvSpPr>
        <p:spPr>
          <a:xfrm>
            <a:off x="2468880" y="1645920"/>
            <a:ext cx="0" cy="457200"/>
          </a:xfrm>
          <a:prstGeom prst="line">
            <a:avLst/>
          </a:prstGeom>
          <a:noFill/>
          <a:ln w="22225">
            <a:solidFill>
              <a:srgbClr val="0B1F3A"/>
            </a:solidFill>
            <a:prstDash val="solid"/>
          </a:ln>
        </p:spPr>
        <p:txBody>
          <a:bodyPr/>
          <a:lstStyle/>
          <a:p>
            <a:endParaRPr lang="es-MX"/>
          </a:p>
        </p:txBody>
      </p:sp>
      <p:sp>
        <p:nvSpPr>
          <p:cNvPr id="4" name="Shape 2"/>
          <p:cNvSpPr/>
          <p:nvPr/>
        </p:nvSpPr>
        <p:spPr>
          <a:xfrm>
            <a:off x="2468880" y="3291840"/>
            <a:ext cx="0" cy="457200"/>
          </a:xfrm>
          <a:prstGeom prst="line">
            <a:avLst/>
          </a:prstGeom>
          <a:noFill/>
          <a:ln w="22225">
            <a:solidFill>
              <a:srgbClr val="0B1F3A"/>
            </a:solidFill>
            <a:prstDash val="solid"/>
          </a:ln>
        </p:spPr>
        <p:txBody>
          <a:bodyPr/>
          <a:lstStyle/>
          <a:p>
            <a:endParaRPr lang="es-MX"/>
          </a:p>
        </p:txBody>
      </p:sp>
      <p:sp>
        <p:nvSpPr>
          <p:cNvPr id="5" name="Shape 3"/>
          <p:cNvSpPr/>
          <p:nvPr/>
        </p:nvSpPr>
        <p:spPr>
          <a:xfrm>
            <a:off x="1554480" y="2697480"/>
            <a:ext cx="320040" cy="0"/>
          </a:xfrm>
          <a:prstGeom prst="line">
            <a:avLst/>
          </a:prstGeom>
          <a:noFill/>
          <a:ln w="22225">
            <a:solidFill>
              <a:srgbClr val="0B1F3A"/>
            </a:solidFill>
            <a:prstDash val="solid"/>
          </a:ln>
        </p:spPr>
        <p:txBody>
          <a:bodyPr/>
          <a:lstStyle/>
          <a:p>
            <a:endParaRPr lang="es-MX"/>
          </a:p>
        </p:txBody>
      </p:sp>
      <p:sp>
        <p:nvSpPr>
          <p:cNvPr id="6" name="Shape 4"/>
          <p:cNvSpPr/>
          <p:nvPr/>
        </p:nvSpPr>
        <p:spPr>
          <a:xfrm>
            <a:off x="3063240" y="2697480"/>
            <a:ext cx="320040" cy="0"/>
          </a:xfrm>
          <a:prstGeom prst="line">
            <a:avLst/>
          </a:prstGeom>
          <a:noFill/>
          <a:ln w="22225">
            <a:solidFill>
              <a:srgbClr val="0B1F3A"/>
            </a:solidFill>
            <a:prstDash val="solid"/>
          </a:ln>
        </p:spPr>
        <p:txBody>
          <a:bodyPr/>
          <a:lstStyle/>
          <a:p>
            <a:endParaRPr lang="es-MX"/>
          </a:p>
        </p:txBody>
      </p:sp>
      <p:sp>
        <p:nvSpPr>
          <p:cNvPr id="7" name="Shape 5"/>
          <p:cNvSpPr/>
          <p:nvPr/>
        </p:nvSpPr>
        <p:spPr>
          <a:xfrm>
            <a:off x="1874520" y="2103120"/>
            <a:ext cx="1188720" cy="1188720"/>
          </a:xfrm>
          <a:prstGeom prst="ellipse">
            <a:avLst/>
          </a:prstGeom>
          <a:solidFill>
            <a:srgbClr val="0B1F3A"/>
          </a:solidFill>
          <a:ln w="12700">
            <a:solidFill>
              <a:srgbClr val="0B1F3A"/>
            </a:solidFill>
            <a:prstDash val="solid"/>
          </a:ln>
        </p:spPr>
        <p:txBody>
          <a:bodyPr/>
          <a:lstStyle/>
          <a:p>
            <a:endParaRPr lang="es-MX"/>
          </a:p>
        </p:txBody>
      </p:sp>
      <p:sp>
        <p:nvSpPr>
          <p:cNvPr id="8" name="Text 6"/>
          <p:cNvSpPr txBox="1"/>
          <p:nvPr/>
        </p:nvSpPr>
        <p:spPr>
          <a:xfrm>
            <a:off x="1874520" y="2103120"/>
            <a:ext cx="1188720" cy="118872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MCP</a:t>
            </a:r>
            <a:endParaRPr lang="en-US" sz="2200" dirty="0"/>
          </a:p>
        </p:txBody>
      </p:sp>
      <p:sp>
        <p:nvSpPr>
          <p:cNvPr id="9" name="Shape 7"/>
          <p:cNvSpPr/>
          <p:nvPr/>
        </p:nvSpPr>
        <p:spPr>
          <a:xfrm>
            <a:off x="1783080" y="1188720"/>
            <a:ext cx="1371600" cy="457200"/>
          </a:xfrm>
          <a:prstGeom prst="roundRect">
            <a:avLst>
              <a:gd name="adj" fmla="val 50000"/>
            </a:avLst>
          </a:prstGeom>
          <a:solidFill>
            <a:srgbClr val="F5A524"/>
          </a:solidFill>
          <a:ln w="12700">
            <a:solidFill>
              <a:srgbClr val="F5A524"/>
            </a:solidFill>
            <a:prstDash val="solid"/>
          </a:ln>
        </p:spPr>
        <p:txBody>
          <a:bodyPr/>
          <a:lstStyle/>
          <a:p>
            <a:endParaRPr lang="es-MX"/>
          </a:p>
        </p:txBody>
      </p:sp>
      <p:sp>
        <p:nvSpPr>
          <p:cNvPr id="10" name="Text 8"/>
          <p:cNvSpPr txBox="1"/>
          <p:nvPr/>
        </p:nvSpPr>
        <p:spPr>
          <a:xfrm>
            <a:off x="1783080" y="1188720"/>
            <a:ext cx="1371600" cy="457200"/>
          </a:xfrm>
          <a:prstGeom prst="rect">
            <a:avLst/>
          </a:prstGeom>
          <a:noFill/>
          <a:ln/>
        </p:spPr>
        <p:txBody>
          <a:bodyPr wrap="square" lIns="0" tIns="0" rIns="0" bIns="0" rtlCol="0" anchor="ctr"/>
          <a:lstStyle/>
          <a:p>
            <a:pPr marL="0" indent="0" algn="ctr">
              <a:buNone/>
            </a:pPr>
            <a:r>
              <a:rPr lang="en-US" sz="1400" b="1" dirty="0">
                <a:solidFill>
                  <a:srgbClr val="0B1F3A"/>
                </a:solidFill>
                <a:latin typeface="Calibri" pitchFamily="34" charset="0"/>
                <a:ea typeface="Calibri" pitchFamily="34" charset="-122"/>
                <a:cs typeface="Calibri" pitchFamily="34" charset="-120"/>
              </a:rPr>
              <a:t>Filesystem</a:t>
            </a:r>
            <a:endParaRPr lang="en-US" sz="1400" dirty="0"/>
          </a:p>
        </p:txBody>
      </p:sp>
      <p:sp>
        <p:nvSpPr>
          <p:cNvPr id="11" name="Shape 9"/>
          <p:cNvSpPr/>
          <p:nvPr/>
        </p:nvSpPr>
        <p:spPr>
          <a:xfrm>
            <a:off x="457200" y="2468880"/>
            <a:ext cx="1097280" cy="457200"/>
          </a:xfrm>
          <a:prstGeom prst="roundRect">
            <a:avLst>
              <a:gd name="adj" fmla="val 50000"/>
            </a:avLst>
          </a:prstGeom>
          <a:solidFill>
            <a:srgbClr val="FFFFFF"/>
          </a:solidFill>
          <a:ln w="12700">
            <a:solidFill>
              <a:srgbClr val="D5DEEA"/>
            </a:solidFill>
            <a:prstDash val="solid"/>
          </a:ln>
        </p:spPr>
        <p:txBody>
          <a:bodyPr/>
          <a:lstStyle/>
          <a:p>
            <a:endParaRPr lang="es-MX"/>
          </a:p>
        </p:txBody>
      </p:sp>
      <p:sp>
        <p:nvSpPr>
          <p:cNvPr id="12" name="Text 10"/>
          <p:cNvSpPr txBox="1"/>
          <p:nvPr/>
        </p:nvSpPr>
        <p:spPr>
          <a:xfrm>
            <a:off x="457200" y="2468880"/>
            <a:ext cx="1097280" cy="457200"/>
          </a:xfrm>
          <a:prstGeom prst="rect">
            <a:avLst/>
          </a:prstGeom>
          <a:noFill/>
          <a:ln/>
        </p:spPr>
        <p:txBody>
          <a:bodyPr wrap="square" lIns="0" tIns="0" rIns="0" bIns="0" rtlCol="0" anchor="ctr"/>
          <a:lstStyle/>
          <a:p>
            <a:pPr marL="0" indent="0" algn="ctr">
              <a:buNone/>
            </a:pPr>
            <a:r>
              <a:rPr lang="en-US" sz="1400" b="1" dirty="0">
                <a:solidFill>
                  <a:srgbClr val="0B1F3A"/>
                </a:solidFill>
                <a:latin typeface="Calibri" pitchFamily="34" charset="0"/>
                <a:ea typeface="Calibri" pitchFamily="34" charset="-122"/>
                <a:cs typeface="Calibri" pitchFamily="34" charset="-120"/>
              </a:rPr>
              <a:t>Git</a:t>
            </a:r>
            <a:endParaRPr lang="en-US" sz="1400" dirty="0"/>
          </a:p>
        </p:txBody>
      </p:sp>
      <p:sp>
        <p:nvSpPr>
          <p:cNvPr id="13" name="Shape 11"/>
          <p:cNvSpPr/>
          <p:nvPr/>
        </p:nvSpPr>
        <p:spPr>
          <a:xfrm>
            <a:off x="3383280" y="2468880"/>
            <a:ext cx="1097280" cy="457200"/>
          </a:xfrm>
          <a:prstGeom prst="roundRect">
            <a:avLst>
              <a:gd name="adj" fmla="val 50000"/>
            </a:avLst>
          </a:prstGeom>
          <a:solidFill>
            <a:srgbClr val="FFFFFF"/>
          </a:solidFill>
          <a:ln w="12700">
            <a:solidFill>
              <a:srgbClr val="D5DEEA"/>
            </a:solidFill>
            <a:prstDash val="solid"/>
          </a:ln>
        </p:spPr>
        <p:txBody>
          <a:bodyPr/>
          <a:lstStyle/>
          <a:p>
            <a:endParaRPr lang="es-MX"/>
          </a:p>
        </p:txBody>
      </p:sp>
      <p:sp>
        <p:nvSpPr>
          <p:cNvPr id="14" name="Text 12"/>
          <p:cNvSpPr txBox="1"/>
          <p:nvPr/>
        </p:nvSpPr>
        <p:spPr>
          <a:xfrm>
            <a:off x="3383280" y="2468880"/>
            <a:ext cx="1097280" cy="457200"/>
          </a:xfrm>
          <a:prstGeom prst="rect">
            <a:avLst/>
          </a:prstGeom>
          <a:noFill/>
          <a:ln/>
        </p:spPr>
        <p:txBody>
          <a:bodyPr wrap="square" lIns="0" tIns="0" rIns="0" bIns="0" rtlCol="0" anchor="ctr"/>
          <a:lstStyle/>
          <a:p>
            <a:pPr marL="0" indent="0" algn="ctr">
              <a:buNone/>
            </a:pPr>
            <a:r>
              <a:rPr lang="en-US" sz="1400" b="1" dirty="0">
                <a:solidFill>
                  <a:srgbClr val="0B1F3A"/>
                </a:solidFill>
                <a:latin typeface="Calibri" pitchFamily="34" charset="0"/>
                <a:ea typeface="Calibri" pitchFamily="34" charset="-122"/>
                <a:cs typeface="Calibri" pitchFamily="34" charset="-120"/>
              </a:rPr>
              <a:t>SQLite</a:t>
            </a:r>
            <a:endParaRPr lang="en-US" sz="1400" dirty="0"/>
          </a:p>
        </p:txBody>
      </p:sp>
      <p:sp>
        <p:nvSpPr>
          <p:cNvPr id="15" name="Shape 13"/>
          <p:cNvSpPr/>
          <p:nvPr/>
        </p:nvSpPr>
        <p:spPr>
          <a:xfrm>
            <a:off x="1783080" y="3749040"/>
            <a:ext cx="1371600" cy="457200"/>
          </a:xfrm>
          <a:prstGeom prst="roundRect">
            <a:avLst>
              <a:gd name="adj" fmla="val 50000"/>
            </a:avLst>
          </a:prstGeom>
          <a:solidFill>
            <a:srgbClr val="FFFFFF"/>
          </a:solidFill>
          <a:ln w="12700">
            <a:solidFill>
              <a:srgbClr val="D5DEEA"/>
            </a:solidFill>
            <a:prstDash val="solid"/>
          </a:ln>
        </p:spPr>
        <p:txBody>
          <a:bodyPr/>
          <a:lstStyle/>
          <a:p>
            <a:endParaRPr lang="es-MX"/>
          </a:p>
        </p:txBody>
      </p:sp>
      <p:sp>
        <p:nvSpPr>
          <p:cNvPr id="16" name="Text 14"/>
          <p:cNvSpPr txBox="1"/>
          <p:nvPr/>
        </p:nvSpPr>
        <p:spPr>
          <a:xfrm>
            <a:off x="1783080" y="3749040"/>
            <a:ext cx="1371600" cy="457200"/>
          </a:xfrm>
          <a:prstGeom prst="rect">
            <a:avLst/>
          </a:prstGeom>
          <a:noFill/>
          <a:ln/>
        </p:spPr>
        <p:txBody>
          <a:bodyPr wrap="square" lIns="0" tIns="0" rIns="0" bIns="0" rtlCol="0" anchor="ctr"/>
          <a:lstStyle/>
          <a:p>
            <a:pPr marL="0" indent="0" algn="ctr">
              <a:buNone/>
            </a:pPr>
            <a:r>
              <a:rPr lang="en-US" sz="1400" b="1" dirty="0">
                <a:solidFill>
                  <a:srgbClr val="0B1F3A"/>
                </a:solidFill>
                <a:latin typeface="Calibri" pitchFamily="34" charset="0"/>
                <a:ea typeface="Calibri" pitchFamily="34" charset="-122"/>
                <a:cs typeface="Calibri" pitchFamily="34" charset="-120"/>
              </a:rPr>
              <a:t>Memoria</a:t>
            </a:r>
            <a:endParaRPr lang="en-US" sz="1400" dirty="0"/>
          </a:p>
        </p:txBody>
      </p:sp>
      <p:sp>
        <p:nvSpPr>
          <p:cNvPr id="17" name="Text 15"/>
          <p:cNvSpPr txBox="1"/>
          <p:nvPr/>
        </p:nvSpPr>
        <p:spPr>
          <a:xfrm>
            <a:off x="457200" y="4370832"/>
            <a:ext cx="4023360" cy="274320"/>
          </a:xfrm>
          <a:prstGeom prst="rect">
            <a:avLst/>
          </a:prstGeom>
          <a:noFill/>
          <a:ln/>
        </p:spPr>
        <p:txBody>
          <a:bodyPr wrap="square" lIns="0" tIns="0" rIns="0" bIns="0" rtlCol="0" anchor="ctr"/>
          <a:lstStyle/>
          <a:p>
            <a:pPr marL="0" indent="0" algn="ctr">
              <a:buNone/>
            </a:pPr>
            <a:r>
              <a:rPr lang="en-US" sz="1100" dirty="0">
                <a:solidFill>
                  <a:srgbClr val="5B6B82"/>
                </a:solidFill>
                <a:latin typeface="Calibri" pitchFamily="34" charset="0"/>
                <a:ea typeface="Calibri" pitchFamily="34" charset="-122"/>
                <a:cs typeface="Calibri" pitchFamily="34" charset="-120"/>
              </a:rPr>
              <a:t>Servidores de referencia  ·  agnóstico al dominio</a:t>
            </a:r>
            <a:endParaRPr lang="en-US" sz="1100" dirty="0"/>
          </a:p>
        </p:txBody>
      </p:sp>
      <p:sp>
        <p:nvSpPr>
          <p:cNvPr id="18" name="Shape 16"/>
          <p:cNvSpPr/>
          <p:nvPr/>
        </p:nvSpPr>
        <p:spPr>
          <a:xfrm>
            <a:off x="4754880" y="1188720"/>
            <a:ext cx="1874520" cy="868680"/>
          </a:xfrm>
          <a:prstGeom prst="roundRect">
            <a:avLst>
              <a:gd name="adj" fmla="val 12632"/>
            </a:avLst>
          </a:prstGeom>
          <a:solidFill>
            <a:srgbClr val="FFFFFF"/>
          </a:solidFill>
          <a:ln w="9525">
            <a:solidFill>
              <a:srgbClr val="D5DEEA"/>
            </a:solidFill>
            <a:prstDash val="solid"/>
          </a:ln>
          <a:effectLst>
            <a:outerShdw blurRad="101600" dist="25400" dir="5400000" algn="bl" rotWithShape="0">
              <a:srgbClr val="0B1F3A">
                <a:alpha val="12000"/>
              </a:srgbClr>
            </a:outerShdw>
          </a:effectLst>
        </p:spPr>
        <p:txBody>
          <a:bodyPr/>
          <a:lstStyle/>
          <a:p>
            <a:endParaRPr lang="es-MX"/>
          </a:p>
        </p:txBody>
      </p:sp>
      <p:sp>
        <p:nvSpPr>
          <p:cNvPr id="19" name="Shape 17"/>
          <p:cNvSpPr/>
          <p:nvPr/>
        </p:nvSpPr>
        <p:spPr>
          <a:xfrm>
            <a:off x="4892040" y="1389888"/>
            <a:ext cx="457200" cy="457200"/>
          </a:xfrm>
          <a:prstGeom prst="ellipse">
            <a:avLst/>
          </a:prstGeom>
          <a:solidFill>
            <a:srgbClr val="0B1F3A"/>
          </a:solidFill>
          <a:ln w="12700">
            <a:solidFill>
              <a:srgbClr val="0B1F3A"/>
            </a:solidFill>
            <a:prstDash val="solid"/>
          </a:ln>
        </p:spPr>
        <p:txBody>
          <a:bodyPr/>
          <a:lstStyle/>
          <a:p>
            <a:endParaRPr lang="es-MX"/>
          </a:p>
        </p:txBody>
      </p:sp>
      <p:pic>
        <p:nvPicPr>
          <p:cNvPr id="20" name="Image 0" descr="preencoded.png"/>
          <p:cNvPicPr>
            <a:picLocks noChangeAspect="1"/>
          </p:cNvPicPr>
          <p:nvPr/>
        </p:nvPicPr>
        <p:blipFill>
          <a:blip r:embed="rId3"/>
          <a:stretch>
            <a:fillRect/>
          </a:stretch>
        </p:blipFill>
        <p:spPr>
          <a:xfrm>
            <a:off x="5006340" y="1504188"/>
            <a:ext cx="228600" cy="228600"/>
          </a:xfrm>
          <a:prstGeom prst="rect">
            <a:avLst/>
          </a:prstGeom>
        </p:spPr>
      </p:pic>
      <p:sp>
        <p:nvSpPr>
          <p:cNvPr id="21" name="Text 18"/>
          <p:cNvSpPr txBox="1"/>
          <p:nvPr/>
        </p:nvSpPr>
        <p:spPr>
          <a:xfrm>
            <a:off x="5440680" y="1280160"/>
            <a:ext cx="1097280" cy="685800"/>
          </a:xfrm>
          <a:prstGeom prst="rect">
            <a:avLst/>
          </a:prstGeom>
          <a:noFill/>
          <a:ln/>
        </p:spPr>
        <p:txBody>
          <a:bodyPr wrap="square" lIns="0" tIns="0" rIns="0" bIns="0" rtlCol="0" anchor="ctr"/>
          <a:lstStyle/>
          <a:p>
            <a:pPr marL="0" indent="0">
              <a:buNone/>
            </a:pPr>
            <a:r>
              <a:rPr lang="en-US" sz="1300" b="1" dirty="0">
                <a:solidFill>
                  <a:srgbClr val="0B1F3A"/>
                </a:solidFill>
                <a:latin typeface="Calibri" pitchFamily="34" charset="0"/>
                <a:ea typeface="Calibri" pitchFamily="34" charset="-122"/>
                <a:cs typeface="Calibri" pitchFamily="34" charset="-120"/>
              </a:rPr>
              <a:t>Listar</a:t>
            </a:r>
            <a:endParaRPr lang="en-US" sz="1300" dirty="0"/>
          </a:p>
        </p:txBody>
      </p:sp>
      <p:sp>
        <p:nvSpPr>
          <p:cNvPr id="22" name="Shape 19"/>
          <p:cNvSpPr/>
          <p:nvPr/>
        </p:nvSpPr>
        <p:spPr>
          <a:xfrm>
            <a:off x="6812280" y="1188720"/>
            <a:ext cx="1874520" cy="868680"/>
          </a:xfrm>
          <a:prstGeom prst="roundRect">
            <a:avLst>
              <a:gd name="adj" fmla="val 12632"/>
            </a:avLst>
          </a:prstGeom>
          <a:solidFill>
            <a:srgbClr val="FFFFFF"/>
          </a:solidFill>
          <a:ln w="9525">
            <a:solidFill>
              <a:srgbClr val="D5DEEA"/>
            </a:solidFill>
            <a:prstDash val="solid"/>
          </a:ln>
          <a:effectLst>
            <a:outerShdw blurRad="101600" dist="25400" dir="5400000" algn="bl" rotWithShape="0">
              <a:srgbClr val="0B1F3A">
                <a:alpha val="12000"/>
              </a:srgbClr>
            </a:outerShdw>
          </a:effectLst>
        </p:spPr>
        <p:txBody>
          <a:bodyPr/>
          <a:lstStyle/>
          <a:p>
            <a:endParaRPr lang="es-MX"/>
          </a:p>
        </p:txBody>
      </p:sp>
      <p:sp>
        <p:nvSpPr>
          <p:cNvPr id="23" name="Shape 20"/>
          <p:cNvSpPr/>
          <p:nvPr/>
        </p:nvSpPr>
        <p:spPr>
          <a:xfrm>
            <a:off x="6949440" y="1389888"/>
            <a:ext cx="457200" cy="457200"/>
          </a:xfrm>
          <a:prstGeom prst="ellipse">
            <a:avLst/>
          </a:prstGeom>
          <a:solidFill>
            <a:srgbClr val="0B1F3A"/>
          </a:solidFill>
          <a:ln w="12700">
            <a:solidFill>
              <a:srgbClr val="0B1F3A"/>
            </a:solidFill>
            <a:prstDash val="solid"/>
          </a:ln>
        </p:spPr>
        <p:txBody>
          <a:bodyPr/>
          <a:lstStyle/>
          <a:p>
            <a:endParaRPr lang="es-MX"/>
          </a:p>
        </p:txBody>
      </p:sp>
      <p:pic>
        <p:nvPicPr>
          <p:cNvPr id="24" name="Image 1" descr="preencoded.png"/>
          <p:cNvPicPr>
            <a:picLocks noChangeAspect="1"/>
          </p:cNvPicPr>
          <p:nvPr/>
        </p:nvPicPr>
        <p:blipFill>
          <a:blip r:embed="rId4"/>
          <a:stretch>
            <a:fillRect/>
          </a:stretch>
        </p:blipFill>
        <p:spPr>
          <a:xfrm>
            <a:off x="7063740" y="1504188"/>
            <a:ext cx="228600" cy="228600"/>
          </a:xfrm>
          <a:prstGeom prst="rect">
            <a:avLst/>
          </a:prstGeom>
        </p:spPr>
      </p:pic>
      <p:sp>
        <p:nvSpPr>
          <p:cNvPr id="25" name="Text 21"/>
          <p:cNvSpPr txBox="1"/>
          <p:nvPr/>
        </p:nvSpPr>
        <p:spPr>
          <a:xfrm>
            <a:off x="7498080" y="1280160"/>
            <a:ext cx="1097280" cy="685800"/>
          </a:xfrm>
          <a:prstGeom prst="rect">
            <a:avLst/>
          </a:prstGeom>
          <a:noFill/>
          <a:ln/>
        </p:spPr>
        <p:txBody>
          <a:bodyPr wrap="square" lIns="0" tIns="0" rIns="0" bIns="0" rtlCol="0" anchor="ctr"/>
          <a:lstStyle/>
          <a:p>
            <a:pPr marL="0" indent="0">
              <a:buNone/>
            </a:pPr>
            <a:r>
              <a:rPr lang="en-US" sz="1300" b="1" dirty="0">
                <a:solidFill>
                  <a:srgbClr val="0B1F3A"/>
                </a:solidFill>
                <a:latin typeface="Calibri" pitchFamily="34" charset="0"/>
                <a:ea typeface="Calibri" pitchFamily="34" charset="-122"/>
                <a:cs typeface="Calibri" pitchFamily="34" charset="-120"/>
              </a:rPr>
              <a:t>Leer</a:t>
            </a:r>
            <a:endParaRPr lang="en-US" sz="1300" dirty="0"/>
          </a:p>
        </p:txBody>
      </p:sp>
      <p:sp>
        <p:nvSpPr>
          <p:cNvPr id="26" name="Shape 22"/>
          <p:cNvSpPr/>
          <p:nvPr/>
        </p:nvSpPr>
        <p:spPr>
          <a:xfrm>
            <a:off x="4754880" y="2194560"/>
            <a:ext cx="1874520" cy="868680"/>
          </a:xfrm>
          <a:prstGeom prst="roundRect">
            <a:avLst>
              <a:gd name="adj" fmla="val 12632"/>
            </a:avLst>
          </a:prstGeom>
          <a:solidFill>
            <a:srgbClr val="FFFFFF"/>
          </a:solidFill>
          <a:ln w="9525">
            <a:solidFill>
              <a:srgbClr val="D5DEEA"/>
            </a:solidFill>
            <a:prstDash val="solid"/>
          </a:ln>
          <a:effectLst>
            <a:outerShdw blurRad="101600" dist="25400" dir="5400000" algn="bl" rotWithShape="0">
              <a:srgbClr val="0B1F3A">
                <a:alpha val="12000"/>
              </a:srgbClr>
            </a:outerShdw>
          </a:effectLst>
        </p:spPr>
        <p:txBody>
          <a:bodyPr/>
          <a:lstStyle/>
          <a:p>
            <a:endParaRPr lang="es-MX"/>
          </a:p>
        </p:txBody>
      </p:sp>
      <p:sp>
        <p:nvSpPr>
          <p:cNvPr id="27" name="Shape 23"/>
          <p:cNvSpPr/>
          <p:nvPr/>
        </p:nvSpPr>
        <p:spPr>
          <a:xfrm>
            <a:off x="4892040" y="2395728"/>
            <a:ext cx="457200" cy="457200"/>
          </a:xfrm>
          <a:prstGeom prst="ellipse">
            <a:avLst/>
          </a:prstGeom>
          <a:solidFill>
            <a:srgbClr val="0B1F3A"/>
          </a:solidFill>
          <a:ln w="12700">
            <a:solidFill>
              <a:srgbClr val="0B1F3A"/>
            </a:solidFill>
            <a:prstDash val="solid"/>
          </a:ln>
        </p:spPr>
        <p:txBody>
          <a:bodyPr/>
          <a:lstStyle/>
          <a:p>
            <a:endParaRPr lang="es-MX"/>
          </a:p>
        </p:txBody>
      </p:sp>
      <p:pic>
        <p:nvPicPr>
          <p:cNvPr id="28" name="Image 2" descr="preencoded.png"/>
          <p:cNvPicPr>
            <a:picLocks noChangeAspect="1"/>
          </p:cNvPicPr>
          <p:nvPr/>
        </p:nvPicPr>
        <p:blipFill>
          <a:blip r:embed="rId5"/>
          <a:stretch>
            <a:fillRect/>
          </a:stretch>
        </p:blipFill>
        <p:spPr>
          <a:xfrm>
            <a:off x="5006340" y="2510028"/>
            <a:ext cx="228600" cy="228600"/>
          </a:xfrm>
          <a:prstGeom prst="rect">
            <a:avLst/>
          </a:prstGeom>
        </p:spPr>
      </p:pic>
      <p:sp>
        <p:nvSpPr>
          <p:cNvPr id="29" name="Text 24"/>
          <p:cNvSpPr txBox="1"/>
          <p:nvPr/>
        </p:nvSpPr>
        <p:spPr>
          <a:xfrm>
            <a:off x="5440680" y="2286000"/>
            <a:ext cx="1097280" cy="685800"/>
          </a:xfrm>
          <a:prstGeom prst="rect">
            <a:avLst/>
          </a:prstGeom>
          <a:noFill/>
          <a:ln/>
        </p:spPr>
        <p:txBody>
          <a:bodyPr wrap="square" lIns="0" tIns="0" rIns="0" bIns="0" rtlCol="0" anchor="ctr"/>
          <a:lstStyle/>
          <a:p>
            <a:pPr marL="0" indent="0">
              <a:buNone/>
            </a:pPr>
            <a:r>
              <a:rPr lang="en-US" sz="1300" b="1" dirty="0">
                <a:solidFill>
                  <a:srgbClr val="0B1F3A"/>
                </a:solidFill>
                <a:latin typeface="Calibri" pitchFamily="34" charset="0"/>
                <a:ea typeface="Calibri" pitchFamily="34" charset="-122"/>
                <a:cs typeface="Calibri" pitchFamily="34" charset="-120"/>
              </a:rPr>
              <a:t>Escribir / editar</a:t>
            </a:r>
            <a:endParaRPr lang="en-US" sz="1300" dirty="0"/>
          </a:p>
        </p:txBody>
      </p:sp>
      <p:sp>
        <p:nvSpPr>
          <p:cNvPr id="30" name="Shape 25"/>
          <p:cNvSpPr/>
          <p:nvPr/>
        </p:nvSpPr>
        <p:spPr>
          <a:xfrm>
            <a:off x="6812280" y="2194560"/>
            <a:ext cx="1874520" cy="868680"/>
          </a:xfrm>
          <a:prstGeom prst="roundRect">
            <a:avLst>
              <a:gd name="adj" fmla="val 12632"/>
            </a:avLst>
          </a:prstGeom>
          <a:solidFill>
            <a:srgbClr val="FFFFFF"/>
          </a:solidFill>
          <a:ln w="9525">
            <a:solidFill>
              <a:srgbClr val="D5DEEA"/>
            </a:solidFill>
            <a:prstDash val="solid"/>
          </a:ln>
          <a:effectLst>
            <a:outerShdw blurRad="101600" dist="25400" dir="5400000" algn="bl" rotWithShape="0">
              <a:srgbClr val="0B1F3A">
                <a:alpha val="12000"/>
              </a:srgbClr>
            </a:outerShdw>
          </a:effectLst>
        </p:spPr>
        <p:txBody>
          <a:bodyPr/>
          <a:lstStyle/>
          <a:p>
            <a:endParaRPr lang="es-MX"/>
          </a:p>
        </p:txBody>
      </p:sp>
      <p:sp>
        <p:nvSpPr>
          <p:cNvPr id="31" name="Shape 26"/>
          <p:cNvSpPr/>
          <p:nvPr/>
        </p:nvSpPr>
        <p:spPr>
          <a:xfrm>
            <a:off x="6949440" y="2395728"/>
            <a:ext cx="457200" cy="457200"/>
          </a:xfrm>
          <a:prstGeom prst="ellipse">
            <a:avLst/>
          </a:prstGeom>
          <a:solidFill>
            <a:srgbClr val="0B1F3A"/>
          </a:solidFill>
          <a:ln w="12700">
            <a:solidFill>
              <a:srgbClr val="0B1F3A"/>
            </a:solidFill>
            <a:prstDash val="solid"/>
          </a:ln>
        </p:spPr>
        <p:txBody>
          <a:bodyPr/>
          <a:lstStyle/>
          <a:p>
            <a:endParaRPr lang="es-MX"/>
          </a:p>
        </p:txBody>
      </p:sp>
      <p:pic>
        <p:nvPicPr>
          <p:cNvPr id="32" name="Image 3" descr="preencoded.png"/>
          <p:cNvPicPr>
            <a:picLocks noChangeAspect="1"/>
          </p:cNvPicPr>
          <p:nvPr/>
        </p:nvPicPr>
        <p:blipFill>
          <a:blip r:embed="rId6"/>
          <a:stretch>
            <a:fillRect/>
          </a:stretch>
        </p:blipFill>
        <p:spPr>
          <a:xfrm>
            <a:off x="7063740" y="2510028"/>
            <a:ext cx="228600" cy="228600"/>
          </a:xfrm>
          <a:prstGeom prst="rect">
            <a:avLst/>
          </a:prstGeom>
        </p:spPr>
      </p:pic>
      <p:sp>
        <p:nvSpPr>
          <p:cNvPr id="33" name="Text 27"/>
          <p:cNvSpPr txBox="1"/>
          <p:nvPr/>
        </p:nvSpPr>
        <p:spPr>
          <a:xfrm>
            <a:off x="7498080" y="2286000"/>
            <a:ext cx="1097280" cy="685800"/>
          </a:xfrm>
          <a:prstGeom prst="rect">
            <a:avLst/>
          </a:prstGeom>
          <a:noFill/>
          <a:ln/>
        </p:spPr>
        <p:txBody>
          <a:bodyPr wrap="square" lIns="0" tIns="0" rIns="0" bIns="0" rtlCol="0" anchor="ctr"/>
          <a:lstStyle/>
          <a:p>
            <a:pPr marL="0" indent="0">
              <a:buNone/>
            </a:pPr>
            <a:r>
              <a:rPr lang="en-US" sz="1300" b="1" dirty="0">
                <a:solidFill>
                  <a:srgbClr val="0B1F3A"/>
                </a:solidFill>
                <a:latin typeface="Calibri" pitchFamily="34" charset="0"/>
                <a:ea typeface="Calibri" pitchFamily="34" charset="-122"/>
                <a:cs typeface="Calibri" pitchFamily="34" charset="-120"/>
              </a:rPr>
              <a:t>Buscar</a:t>
            </a:r>
            <a:endParaRPr lang="en-US" sz="1300" dirty="0"/>
          </a:p>
        </p:txBody>
      </p:sp>
      <p:sp>
        <p:nvSpPr>
          <p:cNvPr id="34" name="Shape 28"/>
          <p:cNvSpPr/>
          <p:nvPr/>
        </p:nvSpPr>
        <p:spPr>
          <a:xfrm>
            <a:off x="4754880" y="3200400"/>
            <a:ext cx="3931920" cy="1417320"/>
          </a:xfrm>
          <a:prstGeom prst="roundRect">
            <a:avLst>
              <a:gd name="adj" fmla="val 7742"/>
            </a:avLst>
          </a:prstGeom>
          <a:solidFill>
            <a:srgbClr val="FFFFFF"/>
          </a:solidFill>
          <a:ln w="9525">
            <a:solidFill>
              <a:srgbClr val="D5DEEA"/>
            </a:solidFill>
            <a:prstDash val="solid"/>
          </a:ln>
          <a:effectLst>
            <a:outerShdw blurRad="101600" dist="25400" dir="5400000" algn="bl" rotWithShape="0">
              <a:srgbClr val="0B1F3A">
                <a:alpha val="12000"/>
              </a:srgbClr>
            </a:outerShdw>
          </a:effectLst>
        </p:spPr>
        <p:txBody>
          <a:bodyPr/>
          <a:lstStyle/>
          <a:p>
            <a:endParaRPr lang="es-MX"/>
          </a:p>
        </p:txBody>
      </p:sp>
      <p:pic>
        <p:nvPicPr>
          <p:cNvPr id="35" name="Image 4" descr="preencoded.png"/>
          <p:cNvPicPr>
            <a:picLocks noChangeAspect="1"/>
          </p:cNvPicPr>
          <p:nvPr/>
        </p:nvPicPr>
        <p:blipFill>
          <a:blip r:embed="rId7"/>
          <a:stretch>
            <a:fillRect/>
          </a:stretch>
        </p:blipFill>
        <p:spPr>
          <a:xfrm>
            <a:off x="4937760" y="3364992"/>
            <a:ext cx="274320" cy="274320"/>
          </a:xfrm>
          <a:prstGeom prst="rect">
            <a:avLst/>
          </a:prstGeom>
        </p:spPr>
      </p:pic>
      <p:sp>
        <p:nvSpPr>
          <p:cNvPr id="36" name="Text 29"/>
          <p:cNvSpPr txBox="1"/>
          <p:nvPr/>
        </p:nvSpPr>
        <p:spPr>
          <a:xfrm>
            <a:off x="5349240" y="3310128"/>
            <a:ext cx="3200400" cy="384048"/>
          </a:xfrm>
          <a:prstGeom prst="rect">
            <a:avLst/>
          </a:prstGeom>
          <a:noFill/>
          <a:ln/>
        </p:spPr>
        <p:txBody>
          <a:bodyPr wrap="square" lIns="0" tIns="0" rIns="0" bIns="0" rtlCol="0" anchor="ctr"/>
          <a:lstStyle/>
          <a:p>
            <a:pPr marL="0" indent="0">
              <a:buNone/>
            </a:pPr>
            <a:r>
              <a:rPr lang="en-US" sz="1400" b="1" dirty="0">
                <a:solidFill>
                  <a:srgbClr val="0B1F3A"/>
                </a:solidFill>
                <a:latin typeface="Calibri" pitchFamily="34" charset="0"/>
                <a:ea typeface="Calibri" pitchFamily="34" charset="-122"/>
                <a:cs typeface="Calibri" pitchFamily="34" charset="-120"/>
              </a:rPr>
              <a:t>Directorios permitidos</a:t>
            </a:r>
            <a:endParaRPr lang="en-US" sz="1400" dirty="0"/>
          </a:p>
        </p:txBody>
      </p:sp>
      <p:sp>
        <p:nvSpPr>
          <p:cNvPr id="37" name="Shape 30"/>
          <p:cNvSpPr/>
          <p:nvPr/>
        </p:nvSpPr>
        <p:spPr>
          <a:xfrm>
            <a:off x="4937760" y="3794760"/>
            <a:ext cx="822960" cy="384048"/>
          </a:xfrm>
          <a:prstGeom prst="roundRect">
            <a:avLst>
              <a:gd name="adj" fmla="val 50000"/>
            </a:avLst>
          </a:prstGeom>
          <a:solidFill>
            <a:srgbClr val="EAF0F8"/>
          </a:solidFill>
          <a:ln w="12700">
            <a:solidFill>
              <a:srgbClr val="EAF0F8"/>
            </a:solidFill>
            <a:prstDash val="solid"/>
          </a:ln>
        </p:spPr>
        <p:txBody>
          <a:bodyPr/>
          <a:lstStyle/>
          <a:p>
            <a:endParaRPr lang="es-MX"/>
          </a:p>
        </p:txBody>
      </p:sp>
      <p:sp>
        <p:nvSpPr>
          <p:cNvPr id="38" name="Text 31"/>
          <p:cNvSpPr txBox="1"/>
          <p:nvPr/>
        </p:nvSpPr>
        <p:spPr>
          <a:xfrm>
            <a:off x="4937760" y="3794760"/>
            <a:ext cx="822960" cy="384048"/>
          </a:xfrm>
          <a:prstGeom prst="rect">
            <a:avLst/>
          </a:prstGeom>
          <a:noFill/>
          <a:ln/>
        </p:spPr>
        <p:txBody>
          <a:bodyPr wrap="square" lIns="0" tIns="0" rIns="0" bIns="0" rtlCol="0" anchor="ctr"/>
          <a:lstStyle/>
          <a:p>
            <a:pPr marL="0" indent="0" algn="ctr">
              <a:buNone/>
            </a:pPr>
            <a:r>
              <a:rPr lang="en-US" sz="1300" b="1" dirty="0">
                <a:solidFill>
                  <a:srgbClr val="0B1F3A"/>
                </a:solidFill>
                <a:latin typeface="Calibri" pitchFamily="34" charset="0"/>
                <a:ea typeface="Calibri" pitchFamily="34" charset="-122"/>
                <a:cs typeface="Calibri" pitchFamily="34" charset="-120"/>
              </a:rPr>
              <a:t>Ruta</a:t>
            </a:r>
            <a:endParaRPr lang="en-US" sz="1300" dirty="0"/>
          </a:p>
        </p:txBody>
      </p:sp>
      <p:sp>
        <p:nvSpPr>
          <p:cNvPr id="39" name="Shape 32"/>
          <p:cNvSpPr/>
          <p:nvPr/>
        </p:nvSpPr>
        <p:spPr>
          <a:xfrm>
            <a:off x="5779008" y="3986784"/>
            <a:ext cx="274320" cy="0"/>
          </a:xfrm>
          <a:prstGeom prst="line">
            <a:avLst/>
          </a:prstGeom>
          <a:noFill/>
          <a:ln w="25400">
            <a:solidFill>
              <a:srgbClr val="0B1F3A"/>
            </a:solidFill>
            <a:prstDash val="solid"/>
            <a:tailEnd type="triangle"/>
          </a:ln>
        </p:spPr>
        <p:txBody>
          <a:bodyPr/>
          <a:lstStyle/>
          <a:p>
            <a:endParaRPr lang="es-MX"/>
          </a:p>
        </p:txBody>
      </p:sp>
      <p:sp>
        <p:nvSpPr>
          <p:cNvPr id="40" name="Shape 33"/>
          <p:cNvSpPr/>
          <p:nvPr/>
        </p:nvSpPr>
        <p:spPr>
          <a:xfrm>
            <a:off x="6089904" y="3794760"/>
            <a:ext cx="1280160" cy="384048"/>
          </a:xfrm>
          <a:prstGeom prst="roundRect">
            <a:avLst>
              <a:gd name="adj" fmla="val 50000"/>
            </a:avLst>
          </a:prstGeom>
          <a:solidFill>
            <a:srgbClr val="F5A524"/>
          </a:solidFill>
          <a:ln w="12700">
            <a:solidFill>
              <a:srgbClr val="F5A524"/>
            </a:solidFill>
            <a:prstDash val="solid"/>
          </a:ln>
        </p:spPr>
        <p:txBody>
          <a:bodyPr/>
          <a:lstStyle/>
          <a:p>
            <a:endParaRPr lang="es-MX"/>
          </a:p>
        </p:txBody>
      </p:sp>
      <p:sp>
        <p:nvSpPr>
          <p:cNvPr id="41" name="Text 34"/>
          <p:cNvSpPr txBox="1"/>
          <p:nvPr/>
        </p:nvSpPr>
        <p:spPr>
          <a:xfrm>
            <a:off x="6089904" y="3794760"/>
            <a:ext cx="1280160" cy="384048"/>
          </a:xfrm>
          <a:prstGeom prst="rect">
            <a:avLst/>
          </a:prstGeom>
          <a:noFill/>
          <a:ln/>
        </p:spPr>
        <p:txBody>
          <a:bodyPr wrap="square" lIns="0" tIns="0" rIns="0" bIns="0" rtlCol="0" anchor="ctr"/>
          <a:lstStyle/>
          <a:p>
            <a:pPr marL="0" indent="0" algn="ctr">
              <a:buNone/>
            </a:pPr>
            <a:r>
              <a:rPr lang="en-US" sz="1300" b="1" dirty="0">
                <a:solidFill>
                  <a:srgbClr val="0B1F3A"/>
                </a:solidFill>
                <a:latin typeface="Calibri" pitchFamily="34" charset="0"/>
                <a:ea typeface="Calibri" pitchFamily="34" charset="-122"/>
                <a:cs typeface="Calibri" pitchFamily="34" charset="-120"/>
              </a:rPr>
              <a:t>Validación</a:t>
            </a:r>
            <a:endParaRPr lang="en-US" sz="1300" dirty="0"/>
          </a:p>
        </p:txBody>
      </p:sp>
      <p:sp>
        <p:nvSpPr>
          <p:cNvPr id="42" name="Shape 35"/>
          <p:cNvSpPr/>
          <p:nvPr/>
        </p:nvSpPr>
        <p:spPr>
          <a:xfrm>
            <a:off x="7388352" y="3986784"/>
            <a:ext cx="274320" cy="0"/>
          </a:xfrm>
          <a:prstGeom prst="line">
            <a:avLst/>
          </a:prstGeom>
          <a:noFill/>
          <a:ln w="25400">
            <a:solidFill>
              <a:srgbClr val="0B1F3A"/>
            </a:solidFill>
            <a:prstDash val="solid"/>
            <a:tailEnd type="triangle"/>
          </a:ln>
        </p:spPr>
        <p:txBody>
          <a:bodyPr/>
          <a:lstStyle/>
          <a:p>
            <a:endParaRPr lang="es-MX"/>
          </a:p>
        </p:txBody>
      </p:sp>
      <p:sp>
        <p:nvSpPr>
          <p:cNvPr id="43" name="Shape 36"/>
          <p:cNvSpPr/>
          <p:nvPr/>
        </p:nvSpPr>
        <p:spPr>
          <a:xfrm>
            <a:off x="7699248" y="3794760"/>
            <a:ext cx="822960" cy="384048"/>
          </a:xfrm>
          <a:prstGeom prst="roundRect">
            <a:avLst>
              <a:gd name="adj" fmla="val 50000"/>
            </a:avLst>
          </a:prstGeom>
          <a:solidFill>
            <a:srgbClr val="EAF0F8"/>
          </a:solidFill>
          <a:ln w="12700">
            <a:solidFill>
              <a:srgbClr val="EAF0F8"/>
            </a:solidFill>
            <a:prstDash val="solid"/>
          </a:ln>
        </p:spPr>
        <p:txBody>
          <a:bodyPr/>
          <a:lstStyle/>
          <a:p>
            <a:endParaRPr lang="es-MX"/>
          </a:p>
        </p:txBody>
      </p:sp>
      <p:sp>
        <p:nvSpPr>
          <p:cNvPr id="44" name="Text 37"/>
          <p:cNvSpPr txBox="1"/>
          <p:nvPr/>
        </p:nvSpPr>
        <p:spPr>
          <a:xfrm>
            <a:off x="7699248" y="3794760"/>
            <a:ext cx="822960" cy="384048"/>
          </a:xfrm>
          <a:prstGeom prst="rect">
            <a:avLst/>
          </a:prstGeom>
          <a:noFill/>
          <a:ln/>
        </p:spPr>
        <p:txBody>
          <a:bodyPr wrap="square" lIns="0" tIns="0" rIns="0" bIns="0" rtlCol="0" anchor="ctr"/>
          <a:lstStyle/>
          <a:p>
            <a:pPr marL="0" indent="0" algn="ctr">
              <a:buNone/>
            </a:pPr>
            <a:r>
              <a:rPr lang="en-US" sz="1300" b="1" dirty="0">
                <a:solidFill>
                  <a:srgbClr val="0B1F3A"/>
                </a:solidFill>
                <a:latin typeface="Calibri" pitchFamily="34" charset="0"/>
                <a:ea typeface="Calibri" pitchFamily="34" charset="-122"/>
                <a:cs typeface="Calibri" pitchFamily="34" charset="-120"/>
              </a:rPr>
              <a:t>Disco</a:t>
            </a:r>
            <a:endParaRPr lang="en-US" sz="1300" dirty="0"/>
          </a:p>
        </p:txBody>
      </p:sp>
      <p:sp>
        <p:nvSpPr>
          <p:cNvPr id="45" name="Text 38"/>
          <p:cNvSpPr txBox="1"/>
          <p:nvPr/>
        </p:nvSpPr>
        <p:spPr>
          <a:xfrm>
            <a:off x="4937760" y="4251960"/>
            <a:ext cx="3611880" cy="256032"/>
          </a:xfrm>
          <a:prstGeom prst="rect">
            <a:avLst/>
          </a:prstGeom>
          <a:noFill/>
          <a:ln/>
        </p:spPr>
        <p:txBody>
          <a:bodyPr wrap="square" lIns="0" tIns="0" rIns="0" bIns="0" rtlCol="0" anchor="ctr"/>
          <a:lstStyle/>
          <a:p>
            <a:pPr marL="0" indent="0">
              <a:buNone/>
            </a:pPr>
            <a:r>
              <a:rPr lang="en-US" sz="1100" dirty="0">
                <a:solidFill>
                  <a:srgbClr val="5B6B82"/>
                </a:solidFill>
                <a:latin typeface="Calibri" pitchFamily="34" charset="0"/>
                <a:ea typeface="Calibri" pitchFamily="34" charset="-122"/>
                <a:cs typeface="Calibri" pitchFamily="34" charset="-120"/>
              </a:rPr>
              <a:t>dentro del proceso servidor, antes de tocar el disco</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5F8FC"/>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marL="0" indent="0">
              <a:buNone/>
            </a:pPr>
            <a:r>
              <a:rPr lang="en-US" sz="3000" b="1" dirty="0">
                <a:solidFill>
                  <a:srgbClr val="0B1F3A"/>
                </a:solidFill>
                <a:latin typeface="Cambria" pitchFamily="34" charset="0"/>
                <a:ea typeface="Cambria" pitchFamily="34" charset="-122"/>
                <a:cs typeface="Cambria" pitchFamily="34" charset="-120"/>
              </a:rPr>
              <a:t>Hallazgo real de seguridad</a:t>
            </a:r>
            <a:endParaRPr lang="en-US" sz="3000" dirty="0"/>
          </a:p>
        </p:txBody>
      </p:sp>
      <p:sp>
        <p:nvSpPr>
          <p:cNvPr id="3" name="Shape 1"/>
          <p:cNvSpPr/>
          <p:nvPr/>
        </p:nvSpPr>
        <p:spPr>
          <a:xfrm>
            <a:off x="457200" y="1188720"/>
            <a:ext cx="4023360" cy="3291840"/>
          </a:xfrm>
          <a:prstGeom prst="roundRect">
            <a:avLst>
              <a:gd name="adj" fmla="val 4167"/>
            </a:avLst>
          </a:prstGeom>
          <a:solidFill>
            <a:srgbClr val="FFF3D6"/>
          </a:solidFill>
          <a:ln w="25400">
            <a:solidFill>
              <a:srgbClr val="F5A524"/>
            </a:solidFill>
            <a:prstDash val="dash"/>
          </a:ln>
        </p:spPr>
        <p:txBody>
          <a:bodyPr/>
          <a:lstStyle/>
          <a:p>
            <a:endParaRPr lang="es-MX"/>
          </a:p>
        </p:txBody>
      </p:sp>
      <p:sp>
        <p:nvSpPr>
          <p:cNvPr id="4" name="Shape 2"/>
          <p:cNvSpPr/>
          <p:nvPr/>
        </p:nvSpPr>
        <p:spPr>
          <a:xfrm>
            <a:off x="685800" y="1371600"/>
            <a:ext cx="1371600" cy="310896"/>
          </a:xfrm>
          <a:prstGeom prst="roundRect">
            <a:avLst>
              <a:gd name="adj" fmla="val 50000"/>
            </a:avLst>
          </a:prstGeom>
          <a:solidFill>
            <a:srgbClr val="F5A524"/>
          </a:solidFill>
          <a:ln w="12700">
            <a:solidFill>
              <a:srgbClr val="F5A524"/>
            </a:solidFill>
            <a:prstDash val="solid"/>
          </a:ln>
        </p:spPr>
        <p:txBody>
          <a:bodyPr/>
          <a:lstStyle/>
          <a:p>
            <a:endParaRPr lang="es-MX"/>
          </a:p>
        </p:txBody>
      </p:sp>
      <p:sp>
        <p:nvSpPr>
          <p:cNvPr id="5" name="Text 3"/>
          <p:cNvSpPr txBox="1"/>
          <p:nvPr/>
        </p:nvSpPr>
        <p:spPr>
          <a:xfrm>
            <a:off x="685800" y="1371600"/>
            <a:ext cx="1371600" cy="310896"/>
          </a:xfrm>
          <a:prstGeom prst="rect">
            <a:avLst/>
          </a:prstGeom>
          <a:noFill/>
          <a:ln/>
        </p:spPr>
        <p:txBody>
          <a:bodyPr wrap="square" lIns="0" tIns="0" rIns="0" bIns="0" rtlCol="0" anchor="ctr"/>
          <a:lstStyle/>
          <a:p>
            <a:pPr marL="0" indent="0" algn="ctr">
              <a:buNone/>
            </a:pPr>
            <a:r>
              <a:rPr lang="en-US" sz="1100" b="1" dirty="0">
                <a:solidFill>
                  <a:srgbClr val="0B1F3A"/>
                </a:solidFill>
                <a:latin typeface="Calibri" pitchFamily="34" charset="0"/>
                <a:ea typeface="Calibri" pitchFamily="34" charset="-122"/>
                <a:cs typeface="Calibri" pitchFamily="34" charset="-120"/>
              </a:rPr>
              <a:t>ALCANCE REAL</a:t>
            </a:r>
            <a:endParaRPr lang="en-US" sz="1100" dirty="0"/>
          </a:p>
        </p:txBody>
      </p:sp>
      <p:pic>
        <p:nvPicPr>
          <p:cNvPr id="6" name="Image 0" descr="preencoded.png"/>
          <p:cNvPicPr>
            <a:picLocks noChangeAspect="1"/>
          </p:cNvPicPr>
          <p:nvPr/>
        </p:nvPicPr>
        <p:blipFill>
          <a:blip r:embed="rId3"/>
          <a:stretch>
            <a:fillRect/>
          </a:stretch>
        </p:blipFill>
        <p:spPr>
          <a:xfrm>
            <a:off x="713232" y="1828800"/>
            <a:ext cx="274320" cy="274320"/>
          </a:xfrm>
          <a:prstGeom prst="rect">
            <a:avLst/>
          </a:prstGeom>
        </p:spPr>
      </p:pic>
      <p:sp>
        <p:nvSpPr>
          <p:cNvPr id="7" name="Text 4"/>
          <p:cNvSpPr txBox="1"/>
          <p:nvPr/>
        </p:nvSpPr>
        <p:spPr>
          <a:xfrm>
            <a:off x="1097280" y="1783080"/>
            <a:ext cx="2926080" cy="365760"/>
          </a:xfrm>
          <a:prstGeom prst="rect">
            <a:avLst/>
          </a:prstGeom>
          <a:noFill/>
          <a:ln/>
        </p:spPr>
        <p:txBody>
          <a:bodyPr wrap="square" lIns="0" tIns="0" rIns="0" bIns="0" rtlCol="0" anchor="ctr"/>
          <a:lstStyle/>
          <a:p>
            <a:pPr marL="0" indent="0">
              <a:buNone/>
            </a:pPr>
            <a:r>
              <a:rPr lang="en-US" sz="1600" b="1" dirty="0">
                <a:solidFill>
                  <a:srgbClr val="0B1F3A"/>
                </a:solidFill>
                <a:latin typeface="Courier New" pitchFamily="34" charset="0"/>
                <a:ea typeface="Courier New" pitchFamily="34" charset="-122"/>
                <a:cs typeface="Courier New" pitchFamily="34" charset="-120"/>
              </a:rPr>
              <a:t>proyecto/</a:t>
            </a:r>
            <a:endParaRPr lang="en-US" sz="1600" dirty="0"/>
          </a:p>
        </p:txBody>
      </p:sp>
      <p:sp>
        <p:nvSpPr>
          <p:cNvPr id="8" name="Shape 5"/>
          <p:cNvSpPr/>
          <p:nvPr/>
        </p:nvSpPr>
        <p:spPr>
          <a:xfrm>
            <a:off x="914400" y="2468880"/>
            <a:ext cx="3108960" cy="1691640"/>
          </a:xfrm>
          <a:prstGeom prst="roundRect">
            <a:avLst>
              <a:gd name="adj" fmla="val 6486"/>
            </a:avLst>
          </a:prstGeom>
          <a:solidFill>
            <a:srgbClr val="0B1F3A"/>
          </a:solidFill>
          <a:ln w="9525">
            <a:solidFill>
              <a:srgbClr val="0B1F3A"/>
            </a:solidFill>
            <a:prstDash val="solid"/>
          </a:ln>
        </p:spPr>
        <p:txBody>
          <a:bodyPr/>
          <a:lstStyle/>
          <a:p>
            <a:endParaRPr lang="es-MX"/>
          </a:p>
        </p:txBody>
      </p:sp>
      <p:sp>
        <p:nvSpPr>
          <p:cNvPr id="9" name="Text 6"/>
          <p:cNvSpPr txBox="1"/>
          <p:nvPr/>
        </p:nvSpPr>
        <p:spPr>
          <a:xfrm>
            <a:off x="914400" y="2743200"/>
            <a:ext cx="3108960" cy="457200"/>
          </a:xfrm>
          <a:prstGeom prst="rect">
            <a:avLst/>
          </a:prstGeom>
          <a:noFill/>
          <a:ln/>
        </p:spPr>
        <p:txBody>
          <a:bodyPr wrap="square" lIns="0" tIns="0" rIns="0" bIns="0" rtlCol="0" anchor="ctr"/>
          <a:lstStyle/>
          <a:p>
            <a:pPr marL="0" indent="0" algn="ctr">
              <a:buNone/>
            </a:pPr>
            <a:r>
              <a:rPr lang="en-US" sz="2000" b="1" dirty="0">
                <a:solidFill>
                  <a:srgbClr val="FFFFFF"/>
                </a:solidFill>
                <a:latin typeface="Courier New" pitchFamily="34" charset="0"/>
                <a:ea typeface="Courier New" pitchFamily="34" charset="-122"/>
                <a:cs typeface="Courier New" pitchFamily="34" charset="-120"/>
              </a:rPr>
              <a:t>workspace/</a:t>
            </a:r>
            <a:endParaRPr lang="en-US" sz="2000" dirty="0"/>
          </a:p>
        </p:txBody>
      </p:sp>
      <p:sp>
        <p:nvSpPr>
          <p:cNvPr id="10" name="Text 7"/>
          <p:cNvSpPr txBox="1"/>
          <p:nvPr/>
        </p:nvSpPr>
        <p:spPr>
          <a:xfrm>
            <a:off x="914400" y="3246120"/>
            <a:ext cx="3108960" cy="320040"/>
          </a:xfrm>
          <a:prstGeom prst="rect">
            <a:avLst/>
          </a:prstGeom>
          <a:noFill/>
          <a:ln/>
        </p:spPr>
        <p:txBody>
          <a:bodyPr wrap="square" lIns="0" tIns="0" rIns="0" bIns="0" rtlCol="0" anchor="ctr"/>
          <a:lstStyle/>
          <a:p>
            <a:pPr marL="0" indent="0" algn="ctr">
              <a:buNone/>
            </a:pPr>
            <a:r>
              <a:rPr lang="en-US" sz="1300" dirty="0">
                <a:solidFill>
                  <a:srgbClr val="CADCFC"/>
                </a:solidFill>
                <a:latin typeface="Calibri" pitchFamily="34" charset="0"/>
                <a:ea typeface="Calibri" pitchFamily="34" charset="-122"/>
                <a:cs typeface="Calibri" pitchFamily="34" charset="-120"/>
              </a:rPr>
              <a:t>lo que configuramos</a:t>
            </a:r>
            <a:endParaRPr lang="en-US" sz="1300" dirty="0"/>
          </a:p>
        </p:txBody>
      </p:sp>
      <p:sp>
        <p:nvSpPr>
          <p:cNvPr id="11" name="Shape 8"/>
          <p:cNvSpPr/>
          <p:nvPr/>
        </p:nvSpPr>
        <p:spPr>
          <a:xfrm>
            <a:off x="4846320" y="1188720"/>
            <a:ext cx="3840480" cy="1463040"/>
          </a:xfrm>
          <a:prstGeom prst="roundRect">
            <a:avLst>
              <a:gd name="adj" fmla="val 7500"/>
            </a:avLst>
          </a:prstGeom>
          <a:solidFill>
            <a:srgbClr val="FFFFFF"/>
          </a:solidFill>
          <a:ln w="9525">
            <a:solidFill>
              <a:srgbClr val="D5DEEA"/>
            </a:solidFill>
            <a:prstDash val="solid"/>
          </a:ln>
          <a:effectLst>
            <a:outerShdw blurRad="101600" dist="25400" dir="5400000" algn="bl" rotWithShape="0">
              <a:srgbClr val="0B1F3A">
                <a:alpha val="12000"/>
              </a:srgbClr>
            </a:outerShdw>
          </a:effectLst>
        </p:spPr>
        <p:txBody>
          <a:bodyPr/>
          <a:lstStyle/>
          <a:p>
            <a:endParaRPr lang="es-MX"/>
          </a:p>
        </p:txBody>
      </p:sp>
      <p:sp>
        <p:nvSpPr>
          <p:cNvPr id="12" name="Shape 9"/>
          <p:cNvSpPr/>
          <p:nvPr/>
        </p:nvSpPr>
        <p:spPr>
          <a:xfrm>
            <a:off x="5074920" y="1325880"/>
            <a:ext cx="3383280" cy="365760"/>
          </a:xfrm>
          <a:prstGeom prst="roundRect">
            <a:avLst>
              <a:gd name="adj" fmla="val 50000"/>
            </a:avLst>
          </a:prstGeom>
          <a:solidFill>
            <a:srgbClr val="0B1F3A"/>
          </a:solidFill>
          <a:ln w="12700">
            <a:solidFill>
              <a:srgbClr val="0B1F3A"/>
            </a:solidFill>
            <a:prstDash val="solid"/>
          </a:ln>
        </p:spPr>
        <p:txBody>
          <a:bodyPr/>
          <a:lstStyle/>
          <a:p>
            <a:endParaRPr lang="es-MX"/>
          </a:p>
        </p:txBody>
      </p:sp>
      <p:sp>
        <p:nvSpPr>
          <p:cNvPr id="13" name="Text 10"/>
          <p:cNvSpPr txBox="1"/>
          <p:nvPr/>
        </p:nvSpPr>
        <p:spPr>
          <a:xfrm>
            <a:off x="5074920" y="1325880"/>
            <a:ext cx="338328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roots del cliente</a:t>
            </a:r>
            <a:endParaRPr lang="en-US" sz="1300" dirty="0"/>
          </a:p>
        </p:txBody>
      </p:sp>
      <p:pic>
        <p:nvPicPr>
          <p:cNvPr id="14" name="Image 1" descr="preencoded.png"/>
          <p:cNvPicPr>
            <a:picLocks noChangeAspect="1"/>
          </p:cNvPicPr>
          <p:nvPr/>
        </p:nvPicPr>
        <p:blipFill>
          <a:blip r:embed="rId4"/>
          <a:stretch>
            <a:fillRect/>
          </a:stretch>
        </p:blipFill>
        <p:spPr>
          <a:xfrm>
            <a:off x="5257800" y="1783080"/>
            <a:ext cx="256032" cy="256032"/>
          </a:xfrm>
          <a:prstGeom prst="rect">
            <a:avLst/>
          </a:prstGeom>
        </p:spPr>
      </p:pic>
      <p:sp>
        <p:nvSpPr>
          <p:cNvPr id="15" name="Text 11"/>
          <p:cNvSpPr txBox="1"/>
          <p:nvPr/>
        </p:nvSpPr>
        <p:spPr>
          <a:xfrm>
            <a:off x="5623560" y="1764792"/>
            <a:ext cx="1828800" cy="292608"/>
          </a:xfrm>
          <a:prstGeom prst="rect">
            <a:avLst/>
          </a:prstGeom>
          <a:noFill/>
          <a:ln/>
        </p:spPr>
        <p:txBody>
          <a:bodyPr wrap="square" lIns="0" tIns="0" rIns="0" bIns="0" rtlCol="0" anchor="ctr"/>
          <a:lstStyle/>
          <a:p>
            <a:pPr marL="0" indent="0">
              <a:buNone/>
            </a:pPr>
            <a:r>
              <a:rPr lang="en-US" sz="1200" dirty="0">
                <a:solidFill>
                  <a:srgbClr val="5B6B82"/>
                </a:solidFill>
                <a:latin typeface="Calibri" pitchFamily="34" charset="0"/>
                <a:ea typeface="Calibri" pitchFamily="34" charset="-122"/>
                <a:cs typeface="Calibri" pitchFamily="34" charset="-120"/>
              </a:rPr>
              <a:t>reemplazan</a:t>
            </a:r>
            <a:endParaRPr lang="en-US" sz="1200" dirty="0"/>
          </a:p>
        </p:txBody>
      </p:sp>
      <p:sp>
        <p:nvSpPr>
          <p:cNvPr id="16" name="Shape 12"/>
          <p:cNvSpPr/>
          <p:nvPr/>
        </p:nvSpPr>
        <p:spPr>
          <a:xfrm>
            <a:off x="5074920" y="2148840"/>
            <a:ext cx="3383280" cy="365760"/>
          </a:xfrm>
          <a:prstGeom prst="roundRect">
            <a:avLst>
              <a:gd name="adj" fmla="val 50000"/>
            </a:avLst>
          </a:prstGeom>
          <a:solidFill>
            <a:srgbClr val="EAF0F8"/>
          </a:solidFill>
          <a:ln w="12700">
            <a:solidFill>
              <a:srgbClr val="EAF0F8"/>
            </a:solidFill>
            <a:prstDash val="solid"/>
          </a:ln>
        </p:spPr>
        <p:txBody>
          <a:bodyPr/>
          <a:lstStyle/>
          <a:p>
            <a:endParaRPr lang="es-MX"/>
          </a:p>
        </p:txBody>
      </p:sp>
      <p:sp>
        <p:nvSpPr>
          <p:cNvPr id="17" name="Text 13"/>
          <p:cNvSpPr txBox="1"/>
          <p:nvPr/>
        </p:nvSpPr>
        <p:spPr>
          <a:xfrm>
            <a:off x="5074920" y="2148840"/>
            <a:ext cx="3383280" cy="365760"/>
          </a:xfrm>
          <a:prstGeom prst="rect">
            <a:avLst/>
          </a:prstGeom>
          <a:noFill/>
          <a:ln/>
        </p:spPr>
        <p:txBody>
          <a:bodyPr wrap="square" lIns="0" tIns="0" rIns="0" bIns="0" rtlCol="0" anchor="ctr"/>
          <a:lstStyle/>
          <a:p>
            <a:pPr marL="0" indent="0" algn="ctr">
              <a:buNone/>
            </a:pPr>
            <a:r>
              <a:rPr lang="en-US" sz="1300" strike="sngStrike" dirty="0">
                <a:solidFill>
                  <a:srgbClr val="5B6B82"/>
                </a:solidFill>
                <a:latin typeface="Calibri" pitchFamily="34" charset="0"/>
                <a:ea typeface="Calibri" pitchFamily="34" charset="-122"/>
                <a:cs typeface="Calibri" pitchFamily="34" charset="-120"/>
              </a:rPr>
              <a:t>argumento de línea de comandos</a:t>
            </a:r>
            <a:endParaRPr lang="en-US" sz="1300" dirty="0"/>
          </a:p>
        </p:txBody>
      </p:sp>
      <p:sp>
        <p:nvSpPr>
          <p:cNvPr id="18" name="Shape 14"/>
          <p:cNvSpPr/>
          <p:nvPr/>
        </p:nvSpPr>
        <p:spPr>
          <a:xfrm>
            <a:off x="4846320" y="2834640"/>
            <a:ext cx="3840480" cy="1188720"/>
          </a:xfrm>
          <a:prstGeom prst="roundRect">
            <a:avLst>
              <a:gd name="adj" fmla="val 7692"/>
            </a:avLst>
          </a:prstGeom>
          <a:solidFill>
            <a:srgbClr val="07142A"/>
          </a:solidFill>
          <a:ln w="12700">
            <a:solidFill>
              <a:srgbClr val="07142A"/>
            </a:solidFill>
            <a:prstDash val="solid"/>
          </a:ln>
          <a:effectLst>
            <a:outerShdw blurRad="101600" dist="25400" dir="5400000" algn="bl" rotWithShape="0">
              <a:srgbClr val="0B1F3A">
                <a:alpha val="12000"/>
              </a:srgbClr>
            </a:outerShdw>
          </a:effectLst>
        </p:spPr>
        <p:txBody>
          <a:bodyPr/>
          <a:lstStyle/>
          <a:p>
            <a:endParaRPr lang="es-MX"/>
          </a:p>
        </p:txBody>
      </p:sp>
      <p:pic>
        <p:nvPicPr>
          <p:cNvPr id="19" name="Image 2" descr="preencoded.png"/>
          <p:cNvPicPr>
            <a:picLocks noChangeAspect="1"/>
          </p:cNvPicPr>
          <p:nvPr/>
        </p:nvPicPr>
        <p:blipFill>
          <a:blip r:embed="rId5"/>
          <a:stretch>
            <a:fillRect/>
          </a:stretch>
        </p:blipFill>
        <p:spPr>
          <a:xfrm>
            <a:off x="5029200" y="3200400"/>
            <a:ext cx="384048" cy="384048"/>
          </a:xfrm>
          <a:prstGeom prst="rect">
            <a:avLst/>
          </a:prstGeom>
        </p:spPr>
      </p:pic>
      <p:sp>
        <p:nvSpPr>
          <p:cNvPr id="20" name="Text 15"/>
          <p:cNvSpPr txBox="1"/>
          <p:nvPr/>
        </p:nvSpPr>
        <p:spPr>
          <a:xfrm>
            <a:off x="5577840" y="2926080"/>
            <a:ext cx="2926080" cy="1005840"/>
          </a:xfrm>
          <a:prstGeom prst="rect">
            <a:avLst/>
          </a:prstGeom>
          <a:noFill/>
          <a:ln/>
        </p:spPr>
        <p:txBody>
          <a:bodyPr wrap="square" lIns="0" tIns="0" rIns="0" bIns="0" rtlCol="0" anchor="ctr"/>
          <a:lstStyle/>
          <a:p>
            <a:pPr marL="0" indent="0">
              <a:buNone/>
            </a:pPr>
            <a:r>
              <a:rPr lang="en-US" sz="1300" dirty="0">
                <a:solidFill>
                  <a:srgbClr val="FFFFFF"/>
                </a:solidFill>
                <a:latin typeface="Courier New" pitchFamily="34" charset="0"/>
                <a:ea typeface="Courier New" pitchFamily="34" charset="-122"/>
                <a:cs typeface="Courier New" pitchFamily="34" charset="-120"/>
              </a:rPr>
              <a:t>Access denied - path outside allowed directories</a:t>
            </a:r>
            <a:endParaRPr lang="en-US" sz="1300" dirty="0"/>
          </a:p>
        </p:txBody>
      </p:sp>
      <p:sp>
        <p:nvSpPr>
          <p:cNvPr id="21" name="Text 16"/>
          <p:cNvSpPr txBox="1"/>
          <p:nvPr/>
        </p:nvSpPr>
        <p:spPr>
          <a:xfrm>
            <a:off x="4846320" y="4160520"/>
            <a:ext cx="3840480" cy="320040"/>
          </a:xfrm>
          <a:prstGeom prst="rect">
            <a:avLst/>
          </a:prstGeom>
          <a:noFill/>
          <a:ln/>
        </p:spPr>
        <p:txBody>
          <a:bodyPr wrap="square" lIns="0" tIns="0" rIns="0" bIns="0" rtlCol="0" anchor="ctr"/>
          <a:lstStyle/>
          <a:p>
            <a:pPr marL="0" indent="0">
              <a:buNone/>
            </a:pPr>
            <a:r>
              <a:rPr lang="en-US" sz="1200" b="1" dirty="0">
                <a:solidFill>
                  <a:srgbClr val="0B1F3A"/>
                </a:solidFill>
                <a:latin typeface="Calibri" pitchFamily="34" charset="0"/>
                <a:ea typeface="Calibri" pitchFamily="34" charset="-122"/>
                <a:cs typeface="Calibri" pitchFamily="34" charset="-120"/>
              </a:rPr>
              <a:t>Rechazada antes de comprobar si el archivo existe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5F8FC"/>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marL="0" indent="0">
              <a:buNone/>
            </a:pPr>
            <a:r>
              <a:rPr lang="en-US" sz="3000" b="1" dirty="0">
                <a:solidFill>
                  <a:srgbClr val="0B1F3A"/>
                </a:solidFill>
                <a:latin typeface="Cambria" pitchFamily="34" charset="0"/>
                <a:ea typeface="Cambria" pitchFamily="34" charset="-122"/>
                <a:cs typeface="Cambria" pitchFamily="34" charset="-120"/>
              </a:rPr>
              <a:t>Casos de uso reales</a:t>
            </a:r>
            <a:endParaRPr lang="en-US" sz="3000" dirty="0"/>
          </a:p>
        </p:txBody>
      </p:sp>
      <p:sp>
        <p:nvSpPr>
          <p:cNvPr id="3" name="Shape 1"/>
          <p:cNvSpPr/>
          <p:nvPr/>
        </p:nvSpPr>
        <p:spPr>
          <a:xfrm>
            <a:off x="457200" y="1188720"/>
            <a:ext cx="1874520" cy="2468880"/>
          </a:xfrm>
          <a:prstGeom prst="roundRect">
            <a:avLst>
              <a:gd name="adj" fmla="val 5854"/>
            </a:avLst>
          </a:prstGeom>
          <a:solidFill>
            <a:srgbClr val="FFFFFF"/>
          </a:solidFill>
          <a:ln w="9525">
            <a:solidFill>
              <a:srgbClr val="D5DEEA"/>
            </a:solidFill>
            <a:prstDash val="solid"/>
          </a:ln>
          <a:effectLst>
            <a:outerShdw blurRad="101600" dist="25400" dir="5400000" algn="bl" rotWithShape="0">
              <a:srgbClr val="0B1F3A">
                <a:alpha val="12000"/>
              </a:srgbClr>
            </a:outerShdw>
          </a:effectLst>
        </p:spPr>
        <p:txBody>
          <a:bodyPr/>
          <a:lstStyle/>
          <a:p>
            <a:endParaRPr lang="es-MX"/>
          </a:p>
        </p:txBody>
      </p:sp>
      <p:sp>
        <p:nvSpPr>
          <p:cNvPr id="4" name="Shape 2"/>
          <p:cNvSpPr/>
          <p:nvPr/>
        </p:nvSpPr>
        <p:spPr>
          <a:xfrm>
            <a:off x="685800" y="1463040"/>
            <a:ext cx="777240" cy="777240"/>
          </a:xfrm>
          <a:prstGeom prst="ellipse">
            <a:avLst/>
          </a:prstGeom>
          <a:solidFill>
            <a:srgbClr val="0B1F3A"/>
          </a:solidFill>
          <a:ln w="12700">
            <a:solidFill>
              <a:srgbClr val="0B1F3A"/>
            </a:solidFill>
            <a:prstDash val="solid"/>
          </a:ln>
        </p:spPr>
        <p:txBody>
          <a:bodyPr/>
          <a:lstStyle/>
          <a:p>
            <a:endParaRPr lang="es-MX"/>
          </a:p>
        </p:txBody>
      </p:sp>
      <p:pic>
        <p:nvPicPr>
          <p:cNvPr id="5" name="Image 0" descr="preencoded.png"/>
          <p:cNvPicPr>
            <a:picLocks noChangeAspect="1"/>
          </p:cNvPicPr>
          <p:nvPr/>
        </p:nvPicPr>
        <p:blipFill>
          <a:blip r:embed="rId3"/>
          <a:stretch>
            <a:fillRect/>
          </a:stretch>
        </p:blipFill>
        <p:spPr>
          <a:xfrm>
            <a:off x="899541" y="1676781"/>
            <a:ext cx="349758" cy="349758"/>
          </a:xfrm>
          <a:prstGeom prst="rect">
            <a:avLst/>
          </a:prstGeom>
        </p:spPr>
      </p:pic>
      <p:sp>
        <p:nvSpPr>
          <p:cNvPr id="6" name="Text 3"/>
          <p:cNvSpPr txBox="1"/>
          <p:nvPr/>
        </p:nvSpPr>
        <p:spPr>
          <a:xfrm>
            <a:off x="685800" y="2423160"/>
            <a:ext cx="1508760" cy="640080"/>
          </a:xfrm>
          <a:prstGeom prst="rect">
            <a:avLst/>
          </a:prstGeom>
          <a:noFill/>
          <a:ln/>
        </p:spPr>
        <p:txBody>
          <a:bodyPr wrap="square" lIns="0" tIns="0" rIns="0" bIns="0" rtlCol="0" anchor="t"/>
          <a:lstStyle/>
          <a:p>
            <a:pPr marL="0" indent="0">
              <a:buNone/>
            </a:pPr>
            <a:r>
              <a:rPr lang="en-US" sz="1600" b="1" dirty="0">
                <a:solidFill>
                  <a:srgbClr val="0B1F3A"/>
                </a:solidFill>
                <a:latin typeface="Calibri" pitchFamily="34" charset="0"/>
                <a:ea typeface="Calibri" pitchFamily="34" charset="-122"/>
                <a:cs typeface="Calibri" pitchFamily="34" charset="-120"/>
              </a:rPr>
              <a:t>Claude Code</a:t>
            </a:r>
            <a:endParaRPr lang="en-US" sz="1600" dirty="0"/>
          </a:p>
          <a:p>
            <a:pPr marL="0" indent="0">
              <a:buNone/>
            </a:pPr>
            <a:r>
              <a:rPr lang="en-US" sz="1600" b="1" dirty="0">
                <a:solidFill>
                  <a:srgbClr val="0B1F3A"/>
                </a:solidFill>
                <a:latin typeface="Calibri" pitchFamily="34" charset="0"/>
                <a:ea typeface="Calibri" pitchFamily="34" charset="-122"/>
                <a:cs typeface="Calibri" pitchFamily="34" charset="-120"/>
              </a:rPr>
              <a:t>Claude Desktop</a:t>
            </a:r>
            <a:endParaRPr lang="en-US" sz="1600" dirty="0"/>
          </a:p>
        </p:txBody>
      </p:sp>
      <p:sp>
        <p:nvSpPr>
          <p:cNvPr id="7" name="Text 4"/>
          <p:cNvSpPr txBox="1"/>
          <p:nvPr/>
        </p:nvSpPr>
        <p:spPr>
          <a:xfrm>
            <a:off x="685800" y="3200400"/>
            <a:ext cx="1508760" cy="274320"/>
          </a:xfrm>
          <a:prstGeom prst="rect">
            <a:avLst/>
          </a:prstGeom>
          <a:noFill/>
          <a:ln/>
        </p:spPr>
        <p:txBody>
          <a:bodyPr wrap="square" lIns="0" tIns="0" rIns="0" bIns="0" rtlCol="0" anchor="ctr"/>
          <a:lstStyle/>
          <a:p>
            <a:pPr marL="0" indent="0">
              <a:buNone/>
            </a:pPr>
            <a:r>
              <a:rPr lang="en-US" sz="1300" dirty="0">
                <a:solidFill>
                  <a:srgbClr val="5B6B82"/>
                </a:solidFill>
                <a:latin typeface="Calibri" pitchFamily="34" charset="0"/>
                <a:ea typeface="Calibri" pitchFamily="34" charset="-122"/>
                <a:cs typeface="Calibri" pitchFamily="34" charset="-120"/>
              </a:rPr>
              <a:t>Anthropic</a:t>
            </a:r>
            <a:endParaRPr lang="en-US" sz="1300" dirty="0"/>
          </a:p>
        </p:txBody>
      </p:sp>
      <p:sp>
        <p:nvSpPr>
          <p:cNvPr id="8" name="Shape 5"/>
          <p:cNvSpPr/>
          <p:nvPr/>
        </p:nvSpPr>
        <p:spPr>
          <a:xfrm>
            <a:off x="2578608" y="1188720"/>
            <a:ext cx="1874520" cy="2468880"/>
          </a:xfrm>
          <a:prstGeom prst="roundRect">
            <a:avLst>
              <a:gd name="adj" fmla="val 5854"/>
            </a:avLst>
          </a:prstGeom>
          <a:solidFill>
            <a:srgbClr val="FFFFFF"/>
          </a:solidFill>
          <a:ln w="9525">
            <a:solidFill>
              <a:srgbClr val="D5DEEA"/>
            </a:solidFill>
            <a:prstDash val="solid"/>
          </a:ln>
          <a:effectLst>
            <a:outerShdw blurRad="101600" dist="25400" dir="5400000" algn="bl" rotWithShape="0">
              <a:srgbClr val="0B1F3A">
                <a:alpha val="12000"/>
              </a:srgbClr>
            </a:outerShdw>
          </a:effectLst>
        </p:spPr>
        <p:txBody>
          <a:bodyPr/>
          <a:lstStyle/>
          <a:p>
            <a:endParaRPr lang="es-MX"/>
          </a:p>
        </p:txBody>
      </p:sp>
      <p:sp>
        <p:nvSpPr>
          <p:cNvPr id="9" name="Shape 6"/>
          <p:cNvSpPr/>
          <p:nvPr/>
        </p:nvSpPr>
        <p:spPr>
          <a:xfrm>
            <a:off x="2807208" y="1463040"/>
            <a:ext cx="777240" cy="777240"/>
          </a:xfrm>
          <a:prstGeom prst="ellipse">
            <a:avLst/>
          </a:prstGeom>
          <a:solidFill>
            <a:srgbClr val="0B1F3A"/>
          </a:solidFill>
          <a:ln w="12700">
            <a:solidFill>
              <a:srgbClr val="0B1F3A"/>
            </a:solidFill>
            <a:prstDash val="solid"/>
          </a:ln>
        </p:spPr>
        <p:txBody>
          <a:bodyPr/>
          <a:lstStyle/>
          <a:p>
            <a:endParaRPr lang="es-MX"/>
          </a:p>
        </p:txBody>
      </p:sp>
      <p:pic>
        <p:nvPicPr>
          <p:cNvPr id="10" name="Image 1" descr="preencoded.png"/>
          <p:cNvPicPr>
            <a:picLocks noChangeAspect="1"/>
          </p:cNvPicPr>
          <p:nvPr/>
        </p:nvPicPr>
        <p:blipFill>
          <a:blip r:embed="rId4"/>
          <a:stretch>
            <a:fillRect/>
          </a:stretch>
        </p:blipFill>
        <p:spPr>
          <a:xfrm>
            <a:off x="3020949" y="1676781"/>
            <a:ext cx="349758" cy="349758"/>
          </a:xfrm>
          <a:prstGeom prst="rect">
            <a:avLst/>
          </a:prstGeom>
        </p:spPr>
      </p:pic>
      <p:sp>
        <p:nvSpPr>
          <p:cNvPr id="11" name="Text 7"/>
          <p:cNvSpPr txBox="1"/>
          <p:nvPr/>
        </p:nvSpPr>
        <p:spPr>
          <a:xfrm>
            <a:off x="2807208" y="2423160"/>
            <a:ext cx="1508760" cy="640080"/>
          </a:xfrm>
          <a:prstGeom prst="rect">
            <a:avLst/>
          </a:prstGeom>
          <a:noFill/>
          <a:ln/>
        </p:spPr>
        <p:txBody>
          <a:bodyPr wrap="square" lIns="0" tIns="0" rIns="0" bIns="0" rtlCol="0" anchor="t"/>
          <a:lstStyle/>
          <a:p>
            <a:pPr marL="0" indent="0">
              <a:buNone/>
            </a:pPr>
            <a:r>
              <a:rPr lang="en-US" sz="1600" b="1" dirty="0">
                <a:solidFill>
                  <a:srgbClr val="0B1F3A"/>
                </a:solidFill>
                <a:latin typeface="Calibri" pitchFamily="34" charset="0"/>
                <a:ea typeface="Calibri" pitchFamily="34" charset="-122"/>
                <a:cs typeface="Calibri" pitchFamily="34" charset="-120"/>
              </a:rPr>
              <a:t>VS Code +</a:t>
            </a:r>
            <a:endParaRPr lang="en-US" sz="1600" dirty="0"/>
          </a:p>
          <a:p>
            <a:pPr marL="0" indent="0">
              <a:buNone/>
            </a:pPr>
            <a:r>
              <a:rPr lang="en-US" sz="1600" b="1" dirty="0">
                <a:solidFill>
                  <a:srgbClr val="0B1F3A"/>
                </a:solidFill>
                <a:latin typeface="Calibri" pitchFamily="34" charset="0"/>
                <a:ea typeface="Calibri" pitchFamily="34" charset="-122"/>
                <a:cs typeface="Calibri" pitchFamily="34" charset="-120"/>
              </a:rPr>
              <a:t>GitHub Copilot</a:t>
            </a:r>
            <a:endParaRPr lang="en-US" sz="1600" dirty="0"/>
          </a:p>
        </p:txBody>
      </p:sp>
      <p:sp>
        <p:nvSpPr>
          <p:cNvPr id="12" name="Text 8"/>
          <p:cNvSpPr txBox="1"/>
          <p:nvPr/>
        </p:nvSpPr>
        <p:spPr>
          <a:xfrm>
            <a:off x="2807208" y="3200400"/>
            <a:ext cx="1508760" cy="274320"/>
          </a:xfrm>
          <a:prstGeom prst="rect">
            <a:avLst/>
          </a:prstGeom>
          <a:noFill/>
          <a:ln/>
        </p:spPr>
        <p:txBody>
          <a:bodyPr wrap="square" lIns="0" tIns="0" rIns="0" bIns="0" rtlCol="0" anchor="ctr"/>
          <a:lstStyle/>
          <a:p>
            <a:pPr marL="0" indent="0">
              <a:buNone/>
            </a:pPr>
            <a:r>
              <a:rPr lang="en-US" sz="1300" dirty="0">
                <a:solidFill>
                  <a:srgbClr val="5B6B82"/>
                </a:solidFill>
                <a:latin typeface="Calibri" pitchFamily="34" charset="0"/>
                <a:ea typeface="Calibri" pitchFamily="34" charset="-122"/>
                <a:cs typeface="Calibri" pitchFamily="34" charset="-120"/>
              </a:rPr>
              <a:t>Microsoft</a:t>
            </a:r>
            <a:endParaRPr lang="en-US" sz="1300" dirty="0"/>
          </a:p>
        </p:txBody>
      </p:sp>
      <p:sp>
        <p:nvSpPr>
          <p:cNvPr id="13" name="Shape 9"/>
          <p:cNvSpPr/>
          <p:nvPr/>
        </p:nvSpPr>
        <p:spPr>
          <a:xfrm>
            <a:off x="4700016" y="1188720"/>
            <a:ext cx="1874520" cy="2468880"/>
          </a:xfrm>
          <a:prstGeom prst="roundRect">
            <a:avLst>
              <a:gd name="adj" fmla="val 5854"/>
            </a:avLst>
          </a:prstGeom>
          <a:solidFill>
            <a:srgbClr val="FFFFFF"/>
          </a:solidFill>
          <a:ln w="9525">
            <a:solidFill>
              <a:srgbClr val="D5DEEA"/>
            </a:solidFill>
            <a:prstDash val="solid"/>
          </a:ln>
          <a:effectLst>
            <a:outerShdw blurRad="101600" dist="25400" dir="5400000" algn="bl" rotWithShape="0">
              <a:srgbClr val="0B1F3A">
                <a:alpha val="12000"/>
              </a:srgbClr>
            </a:outerShdw>
          </a:effectLst>
        </p:spPr>
        <p:txBody>
          <a:bodyPr/>
          <a:lstStyle/>
          <a:p>
            <a:endParaRPr lang="es-MX"/>
          </a:p>
        </p:txBody>
      </p:sp>
      <p:sp>
        <p:nvSpPr>
          <p:cNvPr id="14" name="Shape 10"/>
          <p:cNvSpPr/>
          <p:nvPr/>
        </p:nvSpPr>
        <p:spPr>
          <a:xfrm>
            <a:off x="4928616" y="1463040"/>
            <a:ext cx="777240" cy="777240"/>
          </a:xfrm>
          <a:prstGeom prst="ellipse">
            <a:avLst/>
          </a:prstGeom>
          <a:solidFill>
            <a:srgbClr val="0B1F3A"/>
          </a:solidFill>
          <a:ln w="12700">
            <a:solidFill>
              <a:srgbClr val="0B1F3A"/>
            </a:solidFill>
            <a:prstDash val="solid"/>
          </a:ln>
        </p:spPr>
        <p:txBody>
          <a:bodyPr/>
          <a:lstStyle/>
          <a:p>
            <a:endParaRPr lang="es-MX"/>
          </a:p>
        </p:txBody>
      </p:sp>
      <p:pic>
        <p:nvPicPr>
          <p:cNvPr id="15" name="Image 2" descr="preencoded.png"/>
          <p:cNvPicPr>
            <a:picLocks noChangeAspect="1"/>
          </p:cNvPicPr>
          <p:nvPr/>
        </p:nvPicPr>
        <p:blipFill>
          <a:blip r:embed="rId5"/>
          <a:stretch>
            <a:fillRect/>
          </a:stretch>
        </p:blipFill>
        <p:spPr>
          <a:xfrm>
            <a:off x="5142357" y="1676781"/>
            <a:ext cx="349758" cy="349758"/>
          </a:xfrm>
          <a:prstGeom prst="rect">
            <a:avLst/>
          </a:prstGeom>
        </p:spPr>
      </p:pic>
      <p:sp>
        <p:nvSpPr>
          <p:cNvPr id="16" name="Text 11"/>
          <p:cNvSpPr txBox="1"/>
          <p:nvPr/>
        </p:nvSpPr>
        <p:spPr>
          <a:xfrm>
            <a:off x="4928616" y="2423160"/>
            <a:ext cx="1508760" cy="640080"/>
          </a:xfrm>
          <a:prstGeom prst="rect">
            <a:avLst/>
          </a:prstGeom>
          <a:noFill/>
          <a:ln/>
        </p:spPr>
        <p:txBody>
          <a:bodyPr wrap="square" lIns="0" tIns="0" rIns="0" bIns="0" rtlCol="0" anchor="t"/>
          <a:lstStyle/>
          <a:p>
            <a:pPr marL="0" indent="0">
              <a:buNone/>
            </a:pPr>
            <a:r>
              <a:rPr lang="en-US" sz="1600" b="1" dirty="0">
                <a:solidFill>
                  <a:srgbClr val="0B1F3A"/>
                </a:solidFill>
                <a:latin typeface="Calibri" pitchFamily="34" charset="0"/>
                <a:ea typeface="Calibri" pitchFamily="34" charset="-122"/>
                <a:cs typeface="Calibri" pitchFamily="34" charset="-120"/>
              </a:rPr>
              <a:t>Antigravity</a:t>
            </a:r>
            <a:endParaRPr lang="en-US" sz="1600" dirty="0"/>
          </a:p>
        </p:txBody>
      </p:sp>
      <p:sp>
        <p:nvSpPr>
          <p:cNvPr id="17" name="Text 12"/>
          <p:cNvSpPr txBox="1"/>
          <p:nvPr/>
        </p:nvSpPr>
        <p:spPr>
          <a:xfrm>
            <a:off x="4928616" y="3200400"/>
            <a:ext cx="1508760" cy="274320"/>
          </a:xfrm>
          <a:prstGeom prst="rect">
            <a:avLst/>
          </a:prstGeom>
          <a:noFill/>
          <a:ln/>
        </p:spPr>
        <p:txBody>
          <a:bodyPr wrap="square" lIns="0" tIns="0" rIns="0" bIns="0" rtlCol="0" anchor="ctr"/>
          <a:lstStyle/>
          <a:p>
            <a:pPr marL="0" indent="0">
              <a:buNone/>
            </a:pPr>
            <a:r>
              <a:rPr lang="en-US" sz="1300" dirty="0">
                <a:solidFill>
                  <a:srgbClr val="5B6B82"/>
                </a:solidFill>
                <a:latin typeface="Calibri" pitchFamily="34" charset="0"/>
                <a:ea typeface="Calibri" pitchFamily="34" charset="-122"/>
                <a:cs typeface="Calibri" pitchFamily="34" charset="-120"/>
              </a:rPr>
              <a:t>Google</a:t>
            </a:r>
            <a:endParaRPr lang="en-US" sz="1300" dirty="0"/>
          </a:p>
        </p:txBody>
      </p:sp>
      <p:sp>
        <p:nvSpPr>
          <p:cNvPr id="18" name="Shape 13"/>
          <p:cNvSpPr/>
          <p:nvPr/>
        </p:nvSpPr>
        <p:spPr>
          <a:xfrm>
            <a:off x="6821424" y="1188720"/>
            <a:ext cx="1874520" cy="2468880"/>
          </a:xfrm>
          <a:prstGeom prst="roundRect">
            <a:avLst>
              <a:gd name="adj" fmla="val 5854"/>
            </a:avLst>
          </a:prstGeom>
          <a:solidFill>
            <a:srgbClr val="FFFFFF"/>
          </a:solidFill>
          <a:ln w="9525">
            <a:solidFill>
              <a:srgbClr val="D5DEEA"/>
            </a:solidFill>
            <a:prstDash val="solid"/>
          </a:ln>
          <a:effectLst>
            <a:outerShdw blurRad="101600" dist="25400" dir="5400000" algn="bl" rotWithShape="0">
              <a:srgbClr val="0B1F3A">
                <a:alpha val="12000"/>
              </a:srgbClr>
            </a:outerShdw>
          </a:effectLst>
        </p:spPr>
        <p:txBody>
          <a:bodyPr/>
          <a:lstStyle/>
          <a:p>
            <a:endParaRPr lang="es-MX"/>
          </a:p>
        </p:txBody>
      </p:sp>
      <p:sp>
        <p:nvSpPr>
          <p:cNvPr id="19" name="Shape 14"/>
          <p:cNvSpPr/>
          <p:nvPr/>
        </p:nvSpPr>
        <p:spPr>
          <a:xfrm>
            <a:off x="7050024" y="1463040"/>
            <a:ext cx="777240" cy="777240"/>
          </a:xfrm>
          <a:prstGeom prst="ellipse">
            <a:avLst/>
          </a:prstGeom>
          <a:solidFill>
            <a:srgbClr val="0B1F3A"/>
          </a:solidFill>
          <a:ln w="12700">
            <a:solidFill>
              <a:srgbClr val="0B1F3A"/>
            </a:solidFill>
            <a:prstDash val="solid"/>
          </a:ln>
        </p:spPr>
        <p:txBody>
          <a:bodyPr/>
          <a:lstStyle/>
          <a:p>
            <a:endParaRPr lang="es-MX"/>
          </a:p>
        </p:txBody>
      </p:sp>
      <p:pic>
        <p:nvPicPr>
          <p:cNvPr id="20" name="Image 3" descr="preencoded.png"/>
          <p:cNvPicPr>
            <a:picLocks noChangeAspect="1"/>
          </p:cNvPicPr>
          <p:nvPr/>
        </p:nvPicPr>
        <p:blipFill>
          <a:blip r:embed="rId6"/>
          <a:stretch>
            <a:fillRect/>
          </a:stretch>
        </p:blipFill>
        <p:spPr>
          <a:xfrm>
            <a:off x="7263765" y="1676781"/>
            <a:ext cx="349758" cy="349758"/>
          </a:xfrm>
          <a:prstGeom prst="rect">
            <a:avLst/>
          </a:prstGeom>
        </p:spPr>
      </p:pic>
      <p:sp>
        <p:nvSpPr>
          <p:cNvPr id="21" name="Text 15"/>
          <p:cNvSpPr txBox="1"/>
          <p:nvPr/>
        </p:nvSpPr>
        <p:spPr>
          <a:xfrm>
            <a:off x="7050024" y="2423160"/>
            <a:ext cx="1508760" cy="640080"/>
          </a:xfrm>
          <a:prstGeom prst="rect">
            <a:avLst/>
          </a:prstGeom>
          <a:noFill/>
          <a:ln/>
        </p:spPr>
        <p:txBody>
          <a:bodyPr wrap="square" lIns="0" tIns="0" rIns="0" bIns="0" rtlCol="0" anchor="t"/>
          <a:lstStyle/>
          <a:p>
            <a:pPr marL="0" indent="0">
              <a:buNone/>
            </a:pPr>
            <a:r>
              <a:rPr lang="en-US" sz="1600" b="1" dirty="0">
                <a:solidFill>
                  <a:srgbClr val="0B1F3A"/>
                </a:solidFill>
                <a:latin typeface="Calibri" pitchFamily="34" charset="0"/>
                <a:ea typeface="Calibri" pitchFamily="34" charset="-122"/>
                <a:cs typeface="Calibri" pitchFamily="34" charset="-120"/>
              </a:rPr>
              <a:t>Cursor</a:t>
            </a:r>
            <a:endParaRPr lang="en-US" sz="1600" dirty="0"/>
          </a:p>
        </p:txBody>
      </p:sp>
      <p:sp>
        <p:nvSpPr>
          <p:cNvPr id="22" name="Text 16"/>
          <p:cNvSpPr txBox="1"/>
          <p:nvPr/>
        </p:nvSpPr>
        <p:spPr>
          <a:xfrm>
            <a:off x="7050024" y="3200400"/>
            <a:ext cx="1508760" cy="274320"/>
          </a:xfrm>
          <a:prstGeom prst="rect">
            <a:avLst/>
          </a:prstGeom>
          <a:noFill/>
          <a:ln/>
        </p:spPr>
        <p:txBody>
          <a:bodyPr wrap="square" lIns="0" tIns="0" rIns="0" bIns="0" rtlCol="0" anchor="ctr"/>
          <a:lstStyle/>
          <a:p>
            <a:pPr marL="0" indent="0">
              <a:buNone/>
            </a:pPr>
            <a:r>
              <a:rPr lang="en-US" sz="1300" dirty="0">
                <a:solidFill>
                  <a:srgbClr val="5B6B82"/>
                </a:solidFill>
                <a:latin typeface="Calibri" pitchFamily="34" charset="0"/>
                <a:ea typeface="Calibri" pitchFamily="34" charset="-122"/>
                <a:cs typeface="Calibri" pitchFamily="34" charset="-120"/>
              </a:rPr>
              <a:t>Anysphere</a:t>
            </a:r>
            <a:endParaRPr lang="en-US" sz="1300" dirty="0"/>
          </a:p>
        </p:txBody>
      </p:sp>
      <p:sp>
        <p:nvSpPr>
          <p:cNvPr id="23" name="Shape 17"/>
          <p:cNvSpPr/>
          <p:nvPr/>
        </p:nvSpPr>
        <p:spPr>
          <a:xfrm>
            <a:off x="457200" y="3931920"/>
            <a:ext cx="8229600" cy="640080"/>
          </a:xfrm>
          <a:prstGeom prst="roundRect">
            <a:avLst>
              <a:gd name="adj" fmla="val 17143"/>
            </a:avLst>
          </a:prstGeom>
          <a:solidFill>
            <a:srgbClr val="0B1F3A"/>
          </a:solidFill>
          <a:ln w="12700">
            <a:solidFill>
              <a:srgbClr val="0B1F3A"/>
            </a:solidFill>
            <a:prstDash val="solid"/>
          </a:ln>
        </p:spPr>
        <p:txBody>
          <a:bodyPr/>
          <a:lstStyle/>
          <a:p>
            <a:endParaRPr lang="es-MX"/>
          </a:p>
        </p:txBody>
      </p:sp>
      <p:sp>
        <p:nvSpPr>
          <p:cNvPr id="24" name="Shape 18"/>
          <p:cNvSpPr/>
          <p:nvPr/>
        </p:nvSpPr>
        <p:spPr>
          <a:xfrm>
            <a:off x="640080" y="4069080"/>
            <a:ext cx="365760" cy="365760"/>
          </a:xfrm>
          <a:prstGeom prst="ellipse">
            <a:avLst/>
          </a:prstGeom>
          <a:solidFill>
            <a:srgbClr val="F5A524"/>
          </a:solidFill>
          <a:ln w="12700">
            <a:solidFill>
              <a:srgbClr val="F5A524"/>
            </a:solidFill>
            <a:prstDash val="solid"/>
          </a:ln>
        </p:spPr>
        <p:txBody>
          <a:bodyPr/>
          <a:lstStyle/>
          <a:p>
            <a:endParaRPr lang="es-MX"/>
          </a:p>
        </p:txBody>
      </p:sp>
      <p:pic>
        <p:nvPicPr>
          <p:cNvPr id="25" name="Image 4" descr="preencoded.png"/>
          <p:cNvPicPr>
            <a:picLocks noChangeAspect="1"/>
          </p:cNvPicPr>
          <p:nvPr/>
        </p:nvPicPr>
        <p:blipFill>
          <a:blip r:embed="rId7"/>
          <a:stretch>
            <a:fillRect/>
          </a:stretch>
        </p:blipFill>
        <p:spPr>
          <a:xfrm>
            <a:off x="731520" y="4160520"/>
            <a:ext cx="182880" cy="182880"/>
          </a:xfrm>
          <a:prstGeom prst="rect">
            <a:avLst/>
          </a:prstGeom>
        </p:spPr>
      </p:pic>
      <p:sp>
        <p:nvSpPr>
          <p:cNvPr id="26" name="Text 19"/>
          <p:cNvSpPr txBox="1"/>
          <p:nvPr/>
        </p:nvSpPr>
        <p:spPr>
          <a:xfrm>
            <a:off x="1188720" y="3931920"/>
            <a:ext cx="7315200" cy="64008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Editan repositorios completos sin subir archivos manualmente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78</TotalTime>
  <Words>793</Words>
  <Application>Microsoft Office PowerPoint</Application>
  <PresentationFormat>Presentación en pantalla (16:9)</PresentationFormat>
  <Paragraphs>119</Paragraphs>
  <Slides>8</Slides>
  <Notes>8</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8</vt:i4>
      </vt:variant>
    </vt:vector>
  </HeadingPairs>
  <TitlesOfParts>
    <vt:vector size="13" baseType="lpstr">
      <vt:lpstr>Arial</vt:lpstr>
      <vt:lpstr>Calibri</vt:lpstr>
      <vt:lpstr>Cambria</vt:lpstr>
      <vt:lpstr>Courier New</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MCP y el servidor de sistema de archivos</dc:title>
  <dc:subject>PptxGenJS Presentation</dc:subject>
  <dc:creator>Javier de Jesús Gámez Rosas</dc:creator>
  <cp:lastModifiedBy>Javier De Jesus Gamez Rosas</cp:lastModifiedBy>
  <cp:revision>3</cp:revision>
  <dcterms:created xsi:type="dcterms:W3CDTF">2026-09-20T19:44:52Z</dcterms:created>
  <dcterms:modified xsi:type="dcterms:W3CDTF">2026-09-21T19:07:48Z</dcterms:modified>
</cp:coreProperties>
</file>